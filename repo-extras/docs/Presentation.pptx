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1733fd1-1f3c-df69-8d98-b8ab5a34b58f}">
          <p14:sldIdLst>
            <p14:sldId id="256"/>
            <p14:sldId id="257"/>
            <p14:sldId id="258"/>
          </p14:sldIdLst>
        </p14:section>
        <p14:section name="Design" id="{f458febb-9fd9-6f12-8d55-2f6ebad24a32}">
          <p14:sldIdLst>
            <p14:sldId id="259"/>
            <p14:sldId id="260"/>
            <p14:sldId id="261"/>
            <p14:sldId id="262"/>
            <p14:sldId id="263"/>
          </p14:sldIdLst>
        </p14:section>
        <p14:section name="Working" id="{f18cfb78-0ce7-844a-f59a-059e59ee4061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sults" id="{6e11a478-8f36-4b54-ee02-6526f7daf84e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mini weather station that measures temperature and pressure and warns of rain or storms from how fast the pressure is falling. Two controllers: the ESP32 on the MYOSA kit and an 8051.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pressure trend is used. A fall of 1 hPa in 3 hours suggests rain; a fall of 3 hPa or more suggests a storm. These are simplified from standard pressure-tendency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objectives: measure, calculate, predict, display, communicate and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block diagram top to bottom. The ESP32 does the heavy work (floating-point maths, I2C, graphics). The 8051 does the fast, interrupt-driven output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is the real MYOSA hardware; bottom row is the 8051 alarm unit and the simulation link. The kit has no humidity sensor, so the BMP180 gives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actual MYOSA boards we used. The sensor and display boards connect to the motherboard over the I2C 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MYOSA sensor boards plug straight into the motherboard's I2C connectors, so no breadboard or pull-up resistors are needed. Each device has its own address, so they can share the same two data wires.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Crystal and reset network are needed on real hardware; Proteus takes the clock from component properties. LED and buzzer are wired from +5 V to the pin, so they are active-low.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ring buffer stores one value every 10 minutes in 18 slots, so the oldest value is always about 3 hours old. Demo mode lets us show the warnings in about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message is three bytes: #, a letter and a newline. If no message arrives for 5 seconds the 8051 assumes the link is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cycle is 12 / 11.0592 MHz = 1.085 microseconds. 10 ms / 1.085 us = 9216 counts, so Timer 0 reload is 65536 − 9216 = DC00h.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one program can open COM7 at a time, so the PlatformIO serial monitor must be closed before running Proteus.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connecting the real board, we typed status messages into the Proteus Virtual Terminal to check every alarm state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MYOSA board and the simulated 8051 run together. The PlatformIO serial monitor must be closed so Proteus can open COM7.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Indoor readings at Kochi: 30.6 C, about 1010.7 hPa, altitude estimate about 21 m (it assumes 1013.25 hPa at sea level, so it is approximate).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demo mode the pressure keeps falling by 0.1 hPa every 2 s, so the 3-hour drop quickly passes 3 hPa and the OLED shows STORM WARNING. Removing the jumper brings the reading back to real data and the status returns to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were real issues during development. Also: Proteus defaults to a 12 MHz clock, which had to be changed to 11.0592 MHz, and only one program can use COM7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MYOSA kit was already available and the 8051 was simulated, so actual spending was negligible. Prices are approximate local market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limits: this is a simple pressure-trend indicator, not a full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ESP32 already has Wi-Fi, and the 8051 code already supports a direct UART connection on GPIO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Mini Weather Station  ·  ECE, School of Engineering, CUSAT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Weather Station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Pressure-based rain and storm alert using the 8051 microcontroller and the MYOSA (ESP32) sensor kit</a:t>
            </a:r>
            <a:endParaRPr lang="en-US" sz="1800" dirty="0"/>
          </a:p>
        </p:txBody>
      </p:sp>
      <p:pic>
        <p:nvPicPr>
          <p:cNvPr id="4" name="Weath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11480"/>
            <a:ext cx="1188720" cy="1188720"/>
          </a:xfrm>
          <a:prstGeom prst="rect">
            <a:avLst/>
          </a:prstGeom>
        </p:spPr>
      </p:pic>
      <p:sp>
        <p:nvSpPr>
          <p:cNvPr id="5" name="Team"/>
          <p:cNvSpPr txBox="1"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Anoof Muhammed K  ·  Bhagath TP  ·  Dania Abdulla  ·  Gautham Laser  ·  Ivana Anto</a:t>
            </a:r>
            <a:endParaRPr lang="en-US" sz="1400" dirty="0"/>
          </a:p>
        </p:txBody>
      </p:sp>
      <p:sp>
        <p:nvSpPr>
          <p:cNvPr id="6" name="Course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Embedded Systems mini project  ·  B.Tech Electronics and Communication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School of Engineering, Cochin University of Science and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Falling pressure warns of bad weather</a:t>
            </a:r>
            <a:endParaRPr lang="en-US" sz="3000" dirty="0"/>
          </a:p>
        </p:txBody>
      </p:sp>
      <p:sp>
        <p:nvSpPr>
          <p:cNvPr id="3" name="Explanation"/>
          <p:cNvSpPr txBox="1"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Low-pressure systems bring clouds, rain and wind. As one approaches, the local barometer falls, often hours before the rain. Meteorologists use the 3-hour pressure tendency for short-range forecasts, and so do we.</a:t>
            </a:r>
            <a:endParaRPr lang="en-US" sz="1500" dirty="0"/>
          </a:p>
        </p:txBody>
      </p:sp>
      <p:sp>
        <p:nvSpPr>
          <p:cNvPr id="4" name="Key idea"/>
          <p:cNvSpPr txBox="1"/>
          <p:nvPr/>
        </p:nvSpPr>
        <p:spPr>
          <a:xfrm>
            <a:off x="45720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A single reading means little; the rate of change is what predicts the weather.</a:t>
            </a:r>
            <a:endParaRPr lang="en-US" sz="1500" dirty="0"/>
          </a:p>
        </p:txBody>
      </p:sp>
      <p:sp>
        <p:nvSpPr>
          <p:cNvPr id="5" name="Stat card 1"/>
          <p:cNvSpPr/>
          <p:nvPr/>
        </p:nvSpPr>
        <p:spPr>
          <a:xfrm>
            <a:off x="4846320" y="1097280"/>
            <a:ext cx="3840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value 1"/>
          <p:cNvSpPr txBox="1"/>
          <p:nvPr/>
        </p:nvSpPr>
        <p:spPr>
          <a:xfrm>
            <a:off x="5074920" y="12618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hPa</a:t>
            </a:r>
            <a:endParaRPr lang="en-US" sz="4400" dirty="0"/>
          </a:p>
        </p:txBody>
      </p:sp>
      <p:sp>
        <p:nvSpPr>
          <p:cNvPr id="7" name="Stat label 1"/>
          <p:cNvSpPr txBox="1"/>
          <p:nvPr/>
        </p:nvSpPr>
        <p:spPr>
          <a:xfrm>
            <a:off x="507492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fall in 3 hours</a:t>
            </a:r>
            <a:endParaRPr lang="en-US" sz="1200" dirty="0"/>
          </a:p>
        </p:txBody>
      </p:sp>
      <p:sp>
        <p:nvSpPr>
          <p:cNvPr id="8" name="Stat meaning 1"/>
          <p:cNvSpPr txBox="1"/>
          <p:nvPr/>
        </p:nvSpPr>
        <p:spPr>
          <a:xfrm>
            <a:off x="6949440" y="1554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Rain likely</a:t>
            </a:r>
            <a:endParaRPr lang="en-US" sz="1800" dirty="0"/>
          </a:p>
        </p:txBody>
      </p:sp>
      <p:sp>
        <p:nvSpPr>
          <p:cNvPr id="9" name="Stat card 2"/>
          <p:cNvSpPr/>
          <p:nvPr/>
        </p:nvSpPr>
        <p:spPr>
          <a:xfrm>
            <a:off x="4846320" y="2788920"/>
            <a:ext cx="38404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2"/>
          <p:cNvSpPr txBox="1"/>
          <p:nvPr/>
        </p:nvSpPr>
        <p:spPr>
          <a:xfrm>
            <a:off x="5074920" y="29535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hPa</a:t>
            </a:r>
            <a:endParaRPr lang="en-US" sz="4400" dirty="0"/>
          </a:p>
        </p:txBody>
      </p:sp>
      <p:sp>
        <p:nvSpPr>
          <p:cNvPr id="11" name="Stat label 2"/>
          <p:cNvSpPr txBox="1"/>
          <p:nvPr/>
        </p:nvSpPr>
        <p:spPr>
          <a:xfrm>
            <a:off x="507492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fall in 3 hours</a:t>
            </a:r>
            <a:endParaRPr lang="en-US" sz="1200" dirty="0"/>
          </a:p>
        </p:txBody>
      </p:sp>
      <p:sp>
        <p:nvSpPr>
          <p:cNvPr id="12" name="Stat meaning 2"/>
          <p:cNvSpPr txBox="1"/>
          <p:nvPr/>
        </p:nvSpPr>
        <p:spPr>
          <a:xfrm>
            <a:off x="694944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Storm warning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Objective 1 circle"/>
          <p:cNvSpPr/>
          <p:nvPr/>
        </p:nvSpPr>
        <p:spPr>
          <a:xfrm>
            <a:off x="457200" y="11430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Objectiv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303020"/>
            <a:ext cx="320040" cy="320040"/>
          </a:xfrm>
          <a:prstGeom prst="rect">
            <a:avLst/>
          </a:prstGeom>
        </p:spPr>
      </p:pic>
      <p:sp>
        <p:nvSpPr>
          <p:cNvPr id="5" name="Objective head 1"/>
          <p:cNvSpPr txBox="1"/>
          <p:nvPr/>
        </p:nvSpPr>
        <p:spPr>
          <a:xfrm>
            <a:off x="1280160" y="1124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Measure</a:t>
            </a:r>
            <a:endParaRPr lang="en-US" sz="1600" dirty="0"/>
          </a:p>
        </p:txBody>
      </p:sp>
      <p:sp>
        <p:nvSpPr>
          <p:cNvPr id="6" name="Objective text 1"/>
          <p:cNvSpPr txBox="1"/>
          <p:nvPr/>
        </p:nvSpPr>
        <p:spPr>
          <a:xfrm>
            <a:off x="1280160" y="1444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Read temperature and pressure from the BMP180 over I2C every 2 s</a:t>
            </a:r>
            <a:endParaRPr lang="en-US" sz="1300" dirty="0"/>
          </a:p>
        </p:txBody>
      </p:sp>
      <p:sp>
        <p:nvSpPr>
          <p:cNvPr id="7" name="Objective 2 circle"/>
          <p:cNvSpPr/>
          <p:nvPr/>
        </p:nvSpPr>
        <p:spPr>
          <a:xfrm>
            <a:off x="4663440" y="11430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Objectiv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303020"/>
            <a:ext cx="320040" cy="320040"/>
          </a:xfrm>
          <a:prstGeom prst="rect">
            <a:avLst/>
          </a:prstGeom>
        </p:spPr>
      </p:pic>
      <p:sp>
        <p:nvSpPr>
          <p:cNvPr id="9" name="Objective head 2"/>
          <p:cNvSpPr txBox="1"/>
          <p:nvPr/>
        </p:nvSpPr>
        <p:spPr>
          <a:xfrm>
            <a:off x="5486400" y="1124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Calculate</a:t>
            </a:r>
            <a:endParaRPr lang="en-US" sz="1600" dirty="0"/>
          </a:p>
        </p:txBody>
      </p:sp>
      <p:sp>
        <p:nvSpPr>
          <p:cNvPr id="10" name="Objective text 2"/>
          <p:cNvSpPr txBox="1"/>
          <p:nvPr/>
        </p:nvSpPr>
        <p:spPr>
          <a:xfrm>
            <a:off x="5486400" y="1444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Altitude, max / min values and a 3-hour pressure history</a:t>
            </a:r>
            <a:endParaRPr lang="en-US" sz="1300" dirty="0"/>
          </a:p>
        </p:txBody>
      </p:sp>
      <p:sp>
        <p:nvSpPr>
          <p:cNvPr id="11" name="Objective 3 circle"/>
          <p:cNvSpPr/>
          <p:nvPr/>
        </p:nvSpPr>
        <p:spPr>
          <a:xfrm>
            <a:off x="457200" y="22860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Objectiv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446020"/>
            <a:ext cx="320040" cy="320040"/>
          </a:xfrm>
          <a:prstGeom prst="rect">
            <a:avLst/>
          </a:prstGeom>
        </p:spPr>
      </p:pic>
      <p:sp>
        <p:nvSpPr>
          <p:cNvPr id="13" name="Objective head 3"/>
          <p:cNvSpPr txBox="1"/>
          <p:nvPr/>
        </p:nvSpPr>
        <p:spPr>
          <a:xfrm>
            <a:off x="1280160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Predict</a:t>
            </a:r>
            <a:endParaRPr lang="en-US" sz="1600" dirty="0"/>
          </a:p>
        </p:txBody>
      </p:sp>
      <p:sp>
        <p:nvSpPr>
          <p:cNvPr id="14" name="Objective text 3"/>
          <p:cNvSpPr txBox="1"/>
          <p:nvPr/>
        </p:nvSpPr>
        <p:spPr>
          <a:xfrm>
            <a:off x="1280160" y="2587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Classify stable, improving, rain likely or storm warning</a:t>
            </a:r>
            <a:endParaRPr lang="en-US" sz="1300" dirty="0"/>
          </a:p>
        </p:txBody>
      </p:sp>
      <p:sp>
        <p:nvSpPr>
          <p:cNvPr id="15" name="Objective 4 circle"/>
          <p:cNvSpPr/>
          <p:nvPr/>
        </p:nvSpPr>
        <p:spPr>
          <a:xfrm>
            <a:off x="4663440" y="22860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Objectiv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446020"/>
            <a:ext cx="320040" cy="320040"/>
          </a:xfrm>
          <a:prstGeom prst="rect">
            <a:avLst/>
          </a:prstGeom>
        </p:spPr>
      </p:pic>
      <p:sp>
        <p:nvSpPr>
          <p:cNvPr id="17" name="Objective head 4"/>
          <p:cNvSpPr txBox="1"/>
          <p:nvPr/>
        </p:nvSpPr>
        <p:spPr>
          <a:xfrm>
            <a:off x="5486400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Display</a:t>
            </a:r>
            <a:endParaRPr lang="en-US" sz="1600" dirty="0"/>
          </a:p>
        </p:txBody>
      </p:sp>
      <p:sp>
        <p:nvSpPr>
          <p:cNvPr id="18" name="Objective text 4"/>
          <p:cNvSpPr txBox="1"/>
          <p:nvPr/>
        </p:nvSpPr>
        <p:spPr>
          <a:xfrm>
            <a:off x="5486400" y="2587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Show readings and forecast on the 128 × 64 OLED</a:t>
            </a:r>
            <a:endParaRPr lang="en-US" sz="1300" dirty="0"/>
          </a:p>
        </p:txBody>
      </p:sp>
      <p:sp>
        <p:nvSpPr>
          <p:cNvPr id="19" name="Objective 5 circle"/>
          <p:cNvSpPr/>
          <p:nvPr/>
        </p:nvSpPr>
        <p:spPr>
          <a:xfrm>
            <a:off x="457200" y="34290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Objectiv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3589020"/>
            <a:ext cx="320040" cy="320040"/>
          </a:xfrm>
          <a:prstGeom prst="rect">
            <a:avLst/>
          </a:prstGeom>
        </p:spPr>
      </p:pic>
      <p:sp>
        <p:nvSpPr>
          <p:cNvPr id="21" name="Objective head 5"/>
          <p:cNvSpPr txBox="1"/>
          <p:nvPr/>
        </p:nvSpPr>
        <p:spPr>
          <a:xfrm>
            <a:off x="128016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Communicate</a:t>
            </a:r>
            <a:endParaRPr lang="en-US" sz="1600" dirty="0"/>
          </a:p>
        </p:txBody>
      </p:sp>
      <p:sp>
        <p:nvSpPr>
          <p:cNvPr id="22" name="Objective text 5"/>
          <p:cNvSpPr txBox="1"/>
          <p:nvPr/>
        </p:nvSpPr>
        <p:spPr>
          <a:xfrm>
            <a:off x="1280160" y="3730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Send the status to the 8051 over UART at 9600 baud</a:t>
            </a:r>
            <a:endParaRPr lang="en-US" sz="1300" dirty="0"/>
          </a:p>
        </p:txBody>
      </p:sp>
      <p:sp>
        <p:nvSpPr>
          <p:cNvPr id="23" name="Objective 6 circle"/>
          <p:cNvSpPr/>
          <p:nvPr/>
        </p:nvSpPr>
        <p:spPr>
          <a:xfrm>
            <a:off x="4663440" y="34290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Objectiv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460" y="3589020"/>
            <a:ext cx="320040" cy="320040"/>
          </a:xfrm>
          <a:prstGeom prst="rect">
            <a:avLst/>
          </a:prstGeom>
        </p:spPr>
      </p:pic>
      <p:sp>
        <p:nvSpPr>
          <p:cNvPr id="25" name="Objective head 6"/>
          <p:cNvSpPr txBox="1"/>
          <p:nvPr/>
        </p:nvSpPr>
        <p:spPr>
          <a:xfrm>
            <a:off x="548640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</a:t>
            </a:r>
            <a:endParaRPr lang="en-US" sz="1600" dirty="0"/>
          </a:p>
        </p:txBody>
      </p:sp>
      <p:sp>
        <p:nvSpPr>
          <p:cNvPr id="26" name="Objective text 6"/>
          <p:cNvSpPr txBox="1"/>
          <p:nvPr/>
        </p:nvSpPr>
        <p:spPr>
          <a:xfrm>
            <a:off x="5486400" y="37307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8051 drives a warning LED and buzzer and detects link failure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Block diagram" descr="/home/claude/report/fig/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291840" cy="3616763"/>
          </a:xfrm>
          <a:prstGeom prst="rect">
            <a:avLst/>
          </a:prstGeom>
        </p:spPr>
      </p:pic>
      <p:sp>
        <p:nvSpPr>
          <p:cNvPr id="4" name="Arch card 1"/>
          <p:cNvSpPr/>
          <p:nvPr/>
        </p:nvSpPr>
        <p:spPr>
          <a:xfrm>
            <a:off x="4297680" y="1097280"/>
            <a:ext cx="43891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rch head 1"/>
          <p:cNvSpPr txBox="1"/>
          <p:nvPr/>
        </p:nvSpPr>
        <p:spPr>
          <a:xfrm>
            <a:off x="4480560" y="1207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Sensing unit (real hardware)</a:t>
            </a:r>
            <a:endParaRPr lang="en-US" sz="1500" dirty="0"/>
          </a:p>
        </p:txBody>
      </p:sp>
      <p:sp>
        <p:nvSpPr>
          <p:cNvPr id="6" name="Arch text 1"/>
          <p:cNvSpPr txBox="1"/>
          <p:nvPr/>
        </p:nvSpPr>
        <p:spPr>
          <a:xfrm>
            <a:off x="4480560" y="150876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ESP32 on the MYOSA board reads the BMP180, does all calculations and drives the OLED.</a:t>
            </a:r>
            <a:endParaRPr lang="en-US" sz="1250" dirty="0"/>
          </a:p>
        </p:txBody>
      </p:sp>
      <p:sp>
        <p:nvSpPr>
          <p:cNvPr id="7" name="Arch card 2"/>
          <p:cNvSpPr/>
          <p:nvPr/>
        </p:nvSpPr>
        <p:spPr>
          <a:xfrm>
            <a:off x="4297680" y="2286000"/>
            <a:ext cx="43891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Arch head 2"/>
          <p:cNvSpPr txBox="1"/>
          <p:nvPr/>
        </p:nvSpPr>
        <p:spPr>
          <a:xfrm>
            <a:off x="4480560" y="23957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Serial link</a:t>
            </a:r>
            <a:endParaRPr lang="en-US" sz="1500" dirty="0"/>
          </a:p>
        </p:txBody>
      </p:sp>
      <p:sp>
        <p:nvSpPr>
          <p:cNvPr id="9" name="Arch text 2"/>
          <p:cNvSpPr txBox="1"/>
          <p:nvPr/>
        </p:nvSpPr>
        <p:spPr>
          <a:xfrm>
            <a:off x="4480560" y="269748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Status sent every 2 s as #S, #I, #R or #W at 9600 baud, via USB (CH340, COM7) into Proteus COMPIM.</a:t>
            </a:r>
            <a:endParaRPr lang="en-US" sz="1250" dirty="0"/>
          </a:p>
        </p:txBody>
      </p:sp>
      <p:sp>
        <p:nvSpPr>
          <p:cNvPr id="10" name="Arch card 3"/>
          <p:cNvSpPr/>
          <p:nvPr/>
        </p:nvSpPr>
        <p:spPr>
          <a:xfrm>
            <a:off x="4297680" y="3474720"/>
            <a:ext cx="438912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Arch head 3"/>
          <p:cNvSpPr txBox="1"/>
          <p:nvPr/>
        </p:nvSpPr>
        <p:spPr>
          <a:xfrm>
            <a:off x="4480560" y="3584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Alarm unit (Proteus)</a:t>
            </a:r>
            <a:endParaRPr lang="en-US" sz="1500" dirty="0"/>
          </a:p>
        </p:txBody>
      </p:sp>
      <p:sp>
        <p:nvSpPr>
          <p:cNvPr id="12" name="Arch text 3"/>
          <p:cNvSpPr txBox="1"/>
          <p:nvPr/>
        </p:nvSpPr>
        <p:spPr>
          <a:xfrm>
            <a:off x="4480560" y="38862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AT89C52 receives the status by serial interrupt and drives the LED (P1.3) and buzzer (P1.2).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3" name="HW card 1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W 1 circle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HW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6" name="HW head 1"/>
          <p:cNvSpPr txBox="1"/>
          <p:nvPr/>
        </p:nvSpPr>
        <p:spPr>
          <a:xfrm>
            <a:off x="132588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MYOSA motherboard</a:t>
            </a:r>
            <a:endParaRPr lang="en-US" sz="1500" dirty="0"/>
          </a:p>
        </p:txBody>
      </p:sp>
      <p:sp>
        <p:nvSpPr>
          <p:cNvPr id="7" name="HW text 1"/>
          <p:cNvSpPr txBox="1"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ESP32 dual-core, 3.3 V, Wi-Fi/BT, CH340 USB-serial</a:t>
            </a:r>
            <a:endParaRPr lang="en-US" sz="1250" dirty="0"/>
          </a:p>
        </p:txBody>
      </p:sp>
      <p:sp>
        <p:nvSpPr>
          <p:cNvPr id="8" name="HW card 2"/>
          <p:cNvSpPr/>
          <p:nvPr/>
        </p:nvSpPr>
        <p:spPr>
          <a:xfrm>
            <a:off x="324612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W 2 circle"/>
          <p:cNvSpPr/>
          <p:nvPr/>
        </p:nvSpPr>
        <p:spPr>
          <a:xfrm>
            <a:off x="3429000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HW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274320" cy="274320"/>
          </a:xfrm>
          <a:prstGeom prst="rect">
            <a:avLst/>
          </a:prstGeom>
        </p:spPr>
      </p:pic>
      <p:sp>
        <p:nvSpPr>
          <p:cNvPr id="11" name="HW head 2"/>
          <p:cNvSpPr txBox="1"/>
          <p:nvPr/>
        </p:nvSpPr>
        <p:spPr>
          <a:xfrm>
            <a:off x="411480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BMP180 sensor</a:t>
            </a:r>
            <a:endParaRPr lang="en-US" sz="1500" dirty="0"/>
          </a:p>
        </p:txBody>
      </p:sp>
      <p:sp>
        <p:nvSpPr>
          <p:cNvPr id="12" name="HW text 2"/>
          <p:cNvSpPr txBox="1"/>
          <p:nvPr/>
        </p:nvSpPr>
        <p:spPr>
          <a:xfrm>
            <a:off x="34290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Pressure 300–1100 hPa + temperature, I2C 0x77</a:t>
            </a:r>
            <a:endParaRPr lang="en-US" sz="1250" dirty="0"/>
          </a:p>
        </p:txBody>
      </p:sp>
      <p:sp>
        <p:nvSpPr>
          <p:cNvPr id="13" name="HW card 3"/>
          <p:cNvSpPr/>
          <p:nvPr/>
        </p:nvSpPr>
        <p:spPr>
          <a:xfrm>
            <a:off x="603504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HW 3 circle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HW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74320" cy="274320"/>
          </a:xfrm>
          <a:prstGeom prst="rect">
            <a:avLst/>
          </a:prstGeom>
        </p:spPr>
      </p:pic>
      <p:sp>
        <p:nvSpPr>
          <p:cNvPr id="16" name="HW head 3"/>
          <p:cNvSpPr txBox="1"/>
          <p:nvPr/>
        </p:nvSpPr>
        <p:spPr>
          <a:xfrm>
            <a:off x="690372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OLED display</a:t>
            </a:r>
            <a:endParaRPr lang="en-US" sz="1500" dirty="0"/>
          </a:p>
        </p:txBody>
      </p:sp>
      <p:sp>
        <p:nvSpPr>
          <p:cNvPr id="17" name="HW text 3"/>
          <p:cNvSpPr txBox="1"/>
          <p:nvPr/>
        </p:nvSpPr>
        <p:spPr>
          <a:xfrm>
            <a:off x="62179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SSD1306, 128 × 64 pixels, I2C 0x3C</a:t>
            </a:r>
            <a:endParaRPr lang="en-US" sz="1250" dirty="0"/>
          </a:p>
        </p:txBody>
      </p:sp>
      <p:sp>
        <p:nvSpPr>
          <p:cNvPr id="18" name="HW card 4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HW 4 circle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HW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21" name="HW head 4"/>
          <p:cNvSpPr txBox="1"/>
          <p:nvPr/>
        </p:nvSpPr>
        <p:spPr>
          <a:xfrm>
            <a:off x="132588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AT89C52 (8051)</a:t>
            </a:r>
            <a:endParaRPr lang="en-US" sz="1500" dirty="0"/>
          </a:p>
        </p:txBody>
      </p:sp>
      <p:sp>
        <p:nvSpPr>
          <p:cNvPr id="22" name="HW text 4"/>
          <p:cNvSpPr txBox="1"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8 KB flash, 256 B RAM, 3 timers, UART, 11.0592 MHz</a:t>
            </a:r>
            <a:endParaRPr lang="en-US" sz="1250" dirty="0"/>
          </a:p>
        </p:txBody>
      </p:sp>
      <p:sp>
        <p:nvSpPr>
          <p:cNvPr id="23" name="HW card 5"/>
          <p:cNvSpPr/>
          <p:nvPr/>
        </p:nvSpPr>
        <p:spPr>
          <a:xfrm>
            <a:off x="324612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HW 5 circle"/>
          <p:cNvSpPr/>
          <p:nvPr/>
        </p:nvSpPr>
        <p:spPr>
          <a:xfrm>
            <a:off x="3429000" y="30632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HW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00400"/>
            <a:ext cx="274320" cy="274320"/>
          </a:xfrm>
          <a:prstGeom prst="rect">
            <a:avLst/>
          </a:prstGeom>
        </p:spPr>
      </p:pic>
      <p:sp>
        <p:nvSpPr>
          <p:cNvPr id="26" name="HW head 5"/>
          <p:cNvSpPr txBox="1"/>
          <p:nvPr/>
        </p:nvSpPr>
        <p:spPr>
          <a:xfrm>
            <a:off x="41148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LED + buzzer</a:t>
            </a:r>
            <a:endParaRPr lang="en-US" sz="1500" dirty="0"/>
          </a:p>
        </p:txBody>
      </p:sp>
      <p:sp>
        <p:nvSpPr>
          <p:cNvPr id="27" name="HW text 5"/>
          <p:cNvSpPr txBox="1"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Red LED with 330 Ω on P1.3, 5 V buzzer on P1.2</a:t>
            </a:r>
            <a:endParaRPr lang="en-US" sz="1250" dirty="0"/>
          </a:p>
        </p:txBody>
      </p:sp>
      <p:sp>
        <p:nvSpPr>
          <p:cNvPr id="28" name="HW card 6"/>
          <p:cNvSpPr/>
          <p:nvPr/>
        </p:nvSpPr>
        <p:spPr>
          <a:xfrm>
            <a:off x="6035040" y="288036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HW 6 circle"/>
          <p:cNvSpPr/>
          <p:nvPr/>
        </p:nvSpPr>
        <p:spPr>
          <a:xfrm>
            <a:off x="6217920" y="30632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HW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00400"/>
            <a:ext cx="274320" cy="274320"/>
          </a:xfrm>
          <a:prstGeom prst="rect">
            <a:avLst/>
          </a:prstGeom>
        </p:spPr>
      </p:pic>
      <p:sp>
        <p:nvSpPr>
          <p:cNvPr id="31" name="HW head 6"/>
          <p:cNvSpPr txBox="1"/>
          <p:nvPr/>
        </p:nvSpPr>
        <p:spPr>
          <a:xfrm>
            <a:off x="690372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Laptop + Proteus</a:t>
            </a:r>
            <a:endParaRPr lang="en-US" sz="1500" dirty="0"/>
          </a:p>
        </p:txBody>
      </p:sp>
      <p:sp>
        <p:nvSpPr>
          <p:cNvPr id="32" name="HW text 6"/>
          <p:cNvSpPr txBox="1"/>
          <p:nvPr/>
        </p:nvSpPr>
        <p:spPr>
          <a:xfrm>
            <a:off x="62179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COMPIM links COM7 to the simulated 8051's RXD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hardware</a:t>
            </a:r>
            <a:endParaRPr lang="en-US" sz="3000" dirty="0"/>
          </a:p>
        </p:txBody>
      </p:sp>
      <p:pic>
        <p:nvPicPr>
          <p:cNvPr id="3" name="Photo MYOSA motherboard" descr="/home/claude/report/vid/esp32_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2606040" cy="2331720"/>
          </a:xfrm>
          <a:prstGeom prst="rect">
            <a:avLst/>
          </a:prstGeom>
        </p:spPr>
      </p:pic>
      <p:sp>
        <p:nvSpPr>
          <p:cNvPr id="4" name="Photo head 1"/>
          <p:cNvSpPr txBox="1"/>
          <p:nvPr/>
        </p:nvSpPr>
        <p:spPr>
          <a:xfrm>
            <a:off x="45720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MYOSA motherboard</a:t>
            </a:r>
            <a:endParaRPr lang="en-US" sz="1500" dirty="0"/>
          </a:p>
        </p:txBody>
      </p:sp>
      <p:sp>
        <p:nvSpPr>
          <p:cNvPr id="5" name="Photo text 1"/>
          <p:cNvSpPr txBox="1"/>
          <p:nvPr/>
        </p:nvSpPr>
        <p:spPr>
          <a:xfrm>
            <a:off x="457200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ESP32 with CH340 USB-serial</a:t>
            </a:r>
            <a:endParaRPr lang="en-US" sz="1250" dirty="0"/>
          </a:p>
        </p:txBody>
      </p:sp>
      <p:pic>
        <p:nvPicPr>
          <p:cNvPr id="6" name="Photo BMP180 sensor board" descr="/home/claude/report/vid/bmp180_boar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097280"/>
            <a:ext cx="2606040" cy="2331720"/>
          </a:xfrm>
          <a:prstGeom prst="rect">
            <a:avLst/>
          </a:prstGeom>
        </p:spPr>
      </p:pic>
      <p:sp>
        <p:nvSpPr>
          <p:cNvPr id="7" name="Photo head 2"/>
          <p:cNvSpPr txBox="1"/>
          <p:nvPr/>
        </p:nvSpPr>
        <p:spPr>
          <a:xfrm>
            <a:off x="324612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BMP180 sensor board</a:t>
            </a:r>
            <a:endParaRPr lang="en-US" sz="1500" dirty="0"/>
          </a:p>
        </p:txBody>
      </p:sp>
      <p:sp>
        <p:nvSpPr>
          <p:cNvPr id="8" name="Photo text 2"/>
          <p:cNvSpPr txBox="1"/>
          <p:nvPr/>
        </p:nvSpPr>
        <p:spPr>
          <a:xfrm>
            <a:off x="3246120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Pressure and temperature, I2C</a:t>
            </a:r>
            <a:endParaRPr lang="en-US" sz="1250" dirty="0"/>
          </a:p>
        </p:txBody>
      </p:sp>
      <p:pic>
        <p:nvPicPr>
          <p:cNvPr id="9" name="Photo OLED display board" descr="/home/claude/report/vid/oled_liv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097280"/>
            <a:ext cx="2606040" cy="2331720"/>
          </a:xfrm>
          <a:prstGeom prst="rect">
            <a:avLst/>
          </a:prstGeom>
        </p:spPr>
      </p:pic>
      <p:sp>
        <p:nvSpPr>
          <p:cNvPr id="10" name="Photo head 3"/>
          <p:cNvSpPr txBox="1"/>
          <p:nvPr/>
        </p:nvSpPr>
        <p:spPr>
          <a:xfrm>
            <a:off x="603504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OLED display board</a:t>
            </a:r>
            <a:endParaRPr lang="en-US" sz="1500" dirty="0"/>
          </a:p>
        </p:txBody>
      </p:sp>
      <p:sp>
        <p:nvSpPr>
          <p:cNvPr id="11" name="Photo text 3"/>
          <p:cNvSpPr txBox="1"/>
          <p:nvPr/>
        </p:nvSpPr>
        <p:spPr>
          <a:xfrm>
            <a:off x="6035040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Live readings: 30.9 °C, 1010.3 hPa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 unit wiring</a:t>
            </a:r>
            <a:endParaRPr lang="en-US" sz="3000" dirty="0"/>
          </a:p>
        </p:txBody>
      </p:sp>
      <p:pic>
        <p:nvPicPr>
          <p:cNvPr id="3" name="MYOSA wiring diagram" descr="/home/claude/report/fig/myosa_ci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394960" cy="3338098"/>
          </a:xfrm>
          <a:prstGeom prst="rect">
            <a:avLst/>
          </a:prstGeom>
        </p:spPr>
      </p:pic>
      <p:sp>
        <p:nvSpPr>
          <p:cNvPr id="4" name="Wiring point 1 circle"/>
          <p:cNvSpPr/>
          <p:nvPr/>
        </p:nvSpPr>
        <p:spPr>
          <a:xfrm>
            <a:off x="6080760" y="10972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Wiring poin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1211580"/>
            <a:ext cx="228600" cy="228600"/>
          </a:xfrm>
          <a:prstGeom prst="rect">
            <a:avLst/>
          </a:prstGeom>
        </p:spPr>
      </p:pic>
      <p:sp>
        <p:nvSpPr>
          <p:cNvPr id="6" name="Wiring head 1"/>
          <p:cNvSpPr txBox="1"/>
          <p:nvPr/>
        </p:nvSpPr>
        <p:spPr>
          <a:xfrm>
            <a:off x="6675120" y="1069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Shared I2C bus</a:t>
            </a:r>
            <a:endParaRPr lang="en-US" sz="1300" dirty="0"/>
          </a:p>
        </p:txBody>
      </p:sp>
      <p:sp>
        <p:nvSpPr>
          <p:cNvPr id="7" name="Wiring text 1"/>
          <p:cNvSpPr txBox="1"/>
          <p:nvPr/>
        </p:nvSpPr>
        <p:spPr>
          <a:xfrm>
            <a:off x="6675120" y="13441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BMP180 and OLED use the same four wires: 3.3 V, GND, SDA (GPIO 21), SCL (GPIO 22)</a:t>
            </a:r>
            <a:endParaRPr lang="en-US" sz="1050" dirty="0"/>
          </a:p>
        </p:txBody>
      </p:sp>
      <p:sp>
        <p:nvSpPr>
          <p:cNvPr id="8" name="Wiring point 2 circle"/>
          <p:cNvSpPr/>
          <p:nvPr/>
        </p:nvSpPr>
        <p:spPr>
          <a:xfrm>
            <a:off x="6080760" y="19659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Wiring poin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2080260"/>
            <a:ext cx="228600" cy="228600"/>
          </a:xfrm>
          <a:prstGeom prst="rect">
            <a:avLst/>
          </a:prstGeom>
        </p:spPr>
      </p:pic>
      <p:sp>
        <p:nvSpPr>
          <p:cNvPr id="10" name="Wiring head 2"/>
          <p:cNvSpPr txBox="1"/>
          <p:nvPr/>
        </p:nvSpPr>
        <p:spPr>
          <a:xfrm>
            <a:off x="667512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Unique addresses</a:t>
            </a:r>
            <a:endParaRPr lang="en-US" sz="1300" dirty="0"/>
          </a:p>
        </p:txBody>
      </p:sp>
      <p:sp>
        <p:nvSpPr>
          <p:cNvPr id="11" name="Wiring text 2"/>
          <p:cNvSpPr txBox="1"/>
          <p:nvPr/>
        </p:nvSpPr>
        <p:spPr>
          <a:xfrm>
            <a:off x="6675120" y="22128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BMP180 answers at 0x77, OLED at 0x3C</a:t>
            </a:r>
            <a:endParaRPr lang="en-US" sz="1050" dirty="0"/>
          </a:p>
        </p:txBody>
      </p:sp>
      <p:sp>
        <p:nvSpPr>
          <p:cNvPr id="12" name="Wiring point 3 circle"/>
          <p:cNvSpPr/>
          <p:nvPr/>
        </p:nvSpPr>
        <p:spPr>
          <a:xfrm>
            <a:off x="6080760" y="2834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Wiring poin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2948940"/>
            <a:ext cx="228600" cy="228600"/>
          </a:xfrm>
          <a:prstGeom prst="rect">
            <a:avLst/>
          </a:prstGeom>
        </p:spPr>
      </p:pic>
      <p:sp>
        <p:nvSpPr>
          <p:cNvPr id="14" name="Wiring head 3"/>
          <p:cNvSpPr txBox="1"/>
          <p:nvPr/>
        </p:nvSpPr>
        <p:spPr>
          <a:xfrm>
            <a:off x="6675120" y="2807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Demo jumper</a:t>
            </a:r>
            <a:endParaRPr lang="en-US" sz="1300" dirty="0"/>
          </a:p>
        </p:txBody>
      </p:sp>
      <p:sp>
        <p:nvSpPr>
          <p:cNvPr id="15" name="Wiring text 3"/>
          <p:cNvSpPr txBox="1"/>
          <p:nvPr/>
        </p:nvSpPr>
        <p:spPr>
          <a:xfrm>
            <a:off x="6675120" y="3081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GPIO 27 to GND starts the falling-pressure demo</a:t>
            </a:r>
            <a:endParaRPr lang="en-US" sz="1050" dirty="0"/>
          </a:p>
        </p:txBody>
      </p:sp>
      <p:sp>
        <p:nvSpPr>
          <p:cNvPr id="16" name="Wiring point 4 circle"/>
          <p:cNvSpPr/>
          <p:nvPr/>
        </p:nvSpPr>
        <p:spPr>
          <a:xfrm>
            <a:off x="6080760" y="3703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Wiring point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60" y="3817620"/>
            <a:ext cx="228600" cy="228600"/>
          </a:xfrm>
          <a:prstGeom prst="rect">
            <a:avLst/>
          </a:prstGeom>
        </p:spPr>
      </p:pic>
      <p:sp>
        <p:nvSpPr>
          <p:cNvPr id="18" name="Wiring head 4"/>
          <p:cNvSpPr txBox="1"/>
          <p:nvPr/>
        </p:nvSpPr>
        <p:spPr>
          <a:xfrm>
            <a:off x="667512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One USB cable</a:t>
            </a:r>
            <a:endParaRPr lang="en-US" sz="1300" dirty="0"/>
          </a:p>
        </p:txBody>
      </p:sp>
      <p:sp>
        <p:nvSpPr>
          <p:cNvPr id="19" name="Wiring text 4"/>
          <p:cNvSpPr txBox="1"/>
          <p:nvPr/>
        </p:nvSpPr>
        <p:spPr>
          <a:xfrm>
            <a:off x="6675120" y="39502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Power, code upload and status messages to the laptop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8051 alarm circuit</a:t>
            </a:r>
            <a:endParaRPr lang="en-US" sz="3000" dirty="0"/>
          </a:p>
        </p:txBody>
      </p:sp>
      <p:pic>
        <p:nvPicPr>
          <p:cNvPr id="3" name="8051 circuit" descr="/home/claude/report/fig/mcu_ci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669280" cy="3196609"/>
          </a:xfrm>
          <a:prstGeom prst="rect">
            <a:avLst/>
          </a:prstGeom>
        </p:spPr>
      </p:pic>
      <p:graphicFrame>
        <p:nvGraphicFramePr>
          <p:cNvPr id="9" name="P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097280"/>
          <a:ext cx="23317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P3.0 / RXD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Serial data 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P1.3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LED (active-low)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P1.2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Buzzer (active-low)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XTAL1/2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11.0592 MHz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10 µF + 10 kΩ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+5 V (internal flash)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Active-low note"/>
          <p:cNvSpPr txBox="1"/>
          <p:nvPr/>
        </p:nvSpPr>
        <p:spPr>
          <a:xfrm>
            <a:off x="6355080" y="3566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Writing 0 to a pin turns the LED or buzzer on, because port pins sink current better than they source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tep circle 1"/>
          <p:cNvSpPr/>
          <p:nvPr/>
        </p:nvSpPr>
        <p:spPr>
          <a:xfrm>
            <a:off x="768096" y="14173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tep no 1"/>
          <p:cNvSpPr txBox="1"/>
          <p:nvPr/>
        </p:nvSpPr>
        <p:spPr>
          <a:xfrm>
            <a:off x="76809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tep head 1"/>
          <p:cNvSpPr txBox="1"/>
          <p:nvPr/>
        </p:nvSpPr>
        <p:spPr>
          <a:xfrm>
            <a:off x="457200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</a:t>
            </a:r>
            <a:endParaRPr lang="en-US" sz="1500" dirty="0"/>
          </a:p>
        </p:txBody>
      </p:sp>
      <p:sp>
        <p:nvSpPr>
          <p:cNvPr id="6" name="Step text 1"/>
          <p:cNvSpPr txBox="1"/>
          <p:nvPr/>
        </p:nvSpPr>
        <p:spPr>
          <a:xfrm>
            <a:off x="457200" y="253288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 and P from BMP180 every 2 s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>
            <a:off x="1472184" y="1737360"/>
            <a:ext cx="649224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solid"/>
            <a:tailEnd type="triangle"/>
          </a:ln>
        </p:spPr>
      </p:sp>
      <p:sp>
        <p:nvSpPr>
          <p:cNvPr id="8" name="Step circle 2"/>
          <p:cNvSpPr/>
          <p:nvPr/>
        </p:nvSpPr>
        <p:spPr>
          <a:xfrm>
            <a:off x="2185416" y="14173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tep no 2"/>
          <p:cNvSpPr txBox="1"/>
          <p:nvPr/>
        </p:nvSpPr>
        <p:spPr>
          <a:xfrm>
            <a:off x="218541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Step head 2"/>
          <p:cNvSpPr txBox="1"/>
          <p:nvPr/>
        </p:nvSpPr>
        <p:spPr>
          <a:xfrm>
            <a:off x="1874520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Compute</a:t>
            </a:r>
            <a:endParaRPr lang="en-US" sz="1500" dirty="0"/>
          </a:p>
        </p:txBody>
      </p:sp>
      <p:sp>
        <p:nvSpPr>
          <p:cNvPr id="11" name="Step text 2"/>
          <p:cNvSpPr txBox="1"/>
          <p:nvPr/>
        </p:nvSpPr>
        <p:spPr>
          <a:xfrm>
            <a:off x="1874520" y="253288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Altitude, max / min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>
            <a:off x="2889504" y="1737360"/>
            <a:ext cx="649224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solid"/>
            <a:tailEnd type="triangle"/>
          </a:ln>
        </p:spPr>
      </p:sp>
      <p:sp>
        <p:nvSpPr>
          <p:cNvPr id="13" name="Step circle 3"/>
          <p:cNvSpPr/>
          <p:nvPr/>
        </p:nvSpPr>
        <p:spPr>
          <a:xfrm>
            <a:off x="3602736" y="14173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tep no 3"/>
          <p:cNvSpPr txBox="1"/>
          <p:nvPr/>
        </p:nvSpPr>
        <p:spPr>
          <a:xfrm>
            <a:off x="360273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Step head 3"/>
          <p:cNvSpPr txBox="1"/>
          <p:nvPr/>
        </p:nvSpPr>
        <p:spPr>
          <a:xfrm>
            <a:off x="3291840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Remember</a:t>
            </a:r>
            <a:endParaRPr lang="en-US" sz="1500" dirty="0"/>
          </a:p>
        </p:txBody>
      </p:sp>
      <p:sp>
        <p:nvSpPr>
          <p:cNvPr id="16" name="Step text 3"/>
          <p:cNvSpPr txBox="1"/>
          <p:nvPr/>
        </p:nvSpPr>
        <p:spPr>
          <a:xfrm>
            <a:off x="3291840" y="253288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 sample per 10 min, 18 slots = 3 h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>
            <a:off x="4306824" y="1737360"/>
            <a:ext cx="649224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solid"/>
            <a:tailEnd type="triangle"/>
          </a:ln>
        </p:spPr>
      </p:sp>
      <p:sp>
        <p:nvSpPr>
          <p:cNvPr id="18" name="Step circle 4"/>
          <p:cNvSpPr/>
          <p:nvPr/>
        </p:nvSpPr>
        <p:spPr>
          <a:xfrm>
            <a:off x="5020056" y="14173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Step no 4"/>
          <p:cNvSpPr txBox="1"/>
          <p:nvPr/>
        </p:nvSpPr>
        <p:spPr>
          <a:xfrm>
            <a:off x="502005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Step head 4"/>
          <p:cNvSpPr txBox="1"/>
          <p:nvPr/>
        </p:nvSpPr>
        <p:spPr>
          <a:xfrm>
            <a:off x="4709160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Compare</a:t>
            </a:r>
            <a:endParaRPr lang="en-US" sz="1500" dirty="0"/>
          </a:p>
        </p:txBody>
      </p:sp>
      <p:sp>
        <p:nvSpPr>
          <p:cNvPr id="21" name="Step text 4"/>
          <p:cNvSpPr txBox="1"/>
          <p:nvPr/>
        </p:nvSpPr>
        <p:spPr>
          <a:xfrm>
            <a:off x="4709160" y="253288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drop = P(3 h ago) − P(now)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>
            <a:off x="5724144" y="1737360"/>
            <a:ext cx="649224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solid"/>
            <a:tailEnd type="triangle"/>
          </a:ln>
        </p:spPr>
      </p:sp>
      <p:sp>
        <p:nvSpPr>
          <p:cNvPr id="23" name="Step circle 5"/>
          <p:cNvSpPr/>
          <p:nvPr/>
        </p:nvSpPr>
        <p:spPr>
          <a:xfrm>
            <a:off x="6437376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tep no 5"/>
          <p:cNvSpPr txBox="1"/>
          <p:nvPr/>
        </p:nvSpPr>
        <p:spPr>
          <a:xfrm>
            <a:off x="643737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Step head 5"/>
          <p:cNvSpPr txBox="1"/>
          <p:nvPr/>
        </p:nvSpPr>
        <p:spPr>
          <a:xfrm>
            <a:off x="6126480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Decide</a:t>
            </a:r>
            <a:endParaRPr lang="en-US" sz="1500" dirty="0"/>
          </a:p>
        </p:txBody>
      </p:sp>
      <p:sp>
        <p:nvSpPr>
          <p:cNvPr id="26" name="Step text 5"/>
          <p:cNvSpPr txBox="1"/>
          <p:nvPr/>
        </p:nvSpPr>
        <p:spPr>
          <a:xfrm>
            <a:off x="6126480" y="253288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S, I, R or W</a:t>
            </a:r>
            <a:endParaRPr lang="en-US" sz="1200" dirty="0"/>
          </a:p>
        </p:txBody>
      </p:sp>
      <p:sp>
        <p:nvSpPr>
          <p:cNvPr id="27" name="Arrow 5"/>
          <p:cNvSpPr/>
          <p:nvPr/>
        </p:nvSpPr>
        <p:spPr>
          <a:xfrm>
            <a:off x="7141464" y="1737360"/>
            <a:ext cx="649224" cy="0"/>
          </a:xfrm>
          <a:prstGeom prst="line">
            <a:avLst/>
          </a:prstGeom>
          <a:noFill/>
          <a:ln w="19050">
            <a:solidFill>
              <a:srgbClr val="B8C7D3"/>
            </a:solidFill>
            <a:prstDash val="solid"/>
            <a:tailEnd type="triangle"/>
          </a:ln>
        </p:spPr>
      </p:sp>
      <p:sp>
        <p:nvSpPr>
          <p:cNvPr id="28" name="Step circle 6"/>
          <p:cNvSpPr/>
          <p:nvPr/>
        </p:nvSpPr>
        <p:spPr>
          <a:xfrm>
            <a:off x="7854696" y="1417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Step no 6"/>
          <p:cNvSpPr txBox="1"/>
          <p:nvPr/>
        </p:nvSpPr>
        <p:spPr>
          <a:xfrm>
            <a:off x="785469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0" name="Step head 6"/>
          <p:cNvSpPr txBox="1"/>
          <p:nvPr/>
        </p:nvSpPr>
        <p:spPr>
          <a:xfrm>
            <a:off x="7543800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</a:t>
            </a:r>
            <a:endParaRPr lang="en-US" sz="1500" dirty="0"/>
          </a:p>
        </p:txBody>
      </p:sp>
      <p:sp>
        <p:nvSpPr>
          <p:cNvPr id="31" name="Step text 6"/>
          <p:cNvSpPr txBox="1"/>
          <p:nvPr/>
        </p:nvSpPr>
        <p:spPr>
          <a:xfrm>
            <a:off x="7543800" y="2532888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OLED + "#X" to 8051</a:t>
            </a:r>
            <a:endParaRPr lang="en-US" sz="1200" dirty="0"/>
          </a:p>
        </p:txBody>
      </p:sp>
      <p:sp>
        <p:nvSpPr>
          <p:cNvPr id="32" name="Demo mode card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Demo circle"/>
          <p:cNvSpPr/>
          <p:nvPr/>
        </p:nvSpPr>
        <p:spPr>
          <a:xfrm>
            <a:off x="640080" y="3813048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Dem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3961638"/>
            <a:ext cx="297180" cy="297180"/>
          </a:xfrm>
          <a:prstGeom prst="rect">
            <a:avLst/>
          </a:prstGeom>
        </p:spPr>
      </p:pic>
      <p:sp>
        <p:nvSpPr>
          <p:cNvPr id="35" name="Demo text"/>
          <p:cNvSpPr txBox="1"/>
          <p:nvPr/>
        </p:nvSpPr>
        <p:spPr>
          <a:xfrm>
            <a:off x="1417320" y="376732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Demo mode: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jumper from GPIO 27 to GND makes the pressure fall 0.1 hPa every 2 s, giving RAIN LIKELY after about 20 s and STORM WARNING after about 60 s, instead of waiting hours.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status and alarm actions</a:t>
            </a:r>
            <a:endParaRPr lang="en-US" sz="3000" dirty="0"/>
          </a:p>
        </p:txBody>
      </p:sp>
      <p:graphicFrame>
        <p:nvGraphicFramePr>
          <p:cNvPr id="11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325880"/>
                <a:gridCol w="2103120"/>
                <a:gridCol w="155448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Pressure change in 3 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OLED shows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8051 output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#S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between −1.0 and +1.0 hPa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LED off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#I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Improving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rise ≥ 1.0 hPa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IMPROVING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LED off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#R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Rain likely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fall ≥ 1.0 hPa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RAIN LIKELY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LED steady 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#W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Storm warning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fall ≥ 3.0 hPa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STORM WARNING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LED blinks + buzzer 10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(none 5 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Link lost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LED blinks fast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ule card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ule text"/>
          <p:cNvSpPr txBox="1"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Rule: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8051 accepts a status letter only right after a "#", so the ESP32's debug text on the same line is ignored.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the 8051</a:t>
            </a:r>
            <a:endParaRPr lang="en-US" sz="3000" dirty="0"/>
          </a:p>
        </p:txBody>
      </p:sp>
      <p:sp>
        <p:nvSpPr>
          <p:cNvPr id="3" name="Reg card 1"/>
          <p:cNvSpPr/>
          <p:nvPr/>
        </p:nvSpPr>
        <p:spPr>
          <a:xfrm>
            <a:off x="45720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g value 1"/>
          <p:cNvSpPr txBox="1"/>
          <p:nvPr/>
        </p:nvSpPr>
        <p:spPr>
          <a:xfrm>
            <a:off x="594360" y="1188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FDh</a:t>
            </a:r>
            <a:endParaRPr lang="en-US" sz="3000" dirty="0"/>
          </a:p>
        </p:txBody>
      </p:sp>
      <p:sp>
        <p:nvSpPr>
          <p:cNvPr id="5" name="Reg name 1"/>
          <p:cNvSpPr txBox="1"/>
          <p:nvPr/>
        </p:nvSpPr>
        <p:spPr>
          <a:xfrm>
            <a:off x="59436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TH1</a:t>
            </a:r>
            <a:endParaRPr lang="en-US" sz="1400" dirty="0"/>
          </a:p>
        </p:txBody>
      </p:sp>
      <p:sp>
        <p:nvSpPr>
          <p:cNvPr id="6" name="Reg meaning 1"/>
          <p:cNvSpPr txBox="1"/>
          <p:nvPr/>
        </p:nvSpPr>
        <p:spPr>
          <a:xfrm>
            <a:off x="59436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9600 baud</a:t>
            </a:r>
            <a:endParaRPr lang="en-US" sz="1200" dirty="0"/>
          </a:p>
        </p:txBody>
      </p:sp>
      <p:sp>
        <p:nvSpPr>
          <p:cNvPr id="7" name="Reg card 2"/>
          <p:cNvSpPr/>
          <p:nvPr/>
        </p:nvSpPr>
        <p:spPr>
          <a:xfrm>
            <a:off x="256032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eg value 2"/>
          <p:cNvSpPr txBox="1"/>
          <p:nvPr/>
        </p:nvSpPr>
        <p:spPr>
          <a:xfrm>
            <a:off x="2697480" y="1188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DC00h</a:t>
            </a:r>
            <a:endParaRPr lang="en-US" sz="3000" dirty="0"/>
          </a:p>
        </p:txBody>
      </p:sp>
      <p:sp>
        <p:nvSpPr>
          <p:cNvPr id="9" name="Reg name 2"/>
          <p:cNvSpPr txBox="1"/>
          <p:nvPr/>
        </p:nvSpPr>
        <p:spPr>
          <a:xfrm>
            <a:off x="26974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Timer 0</a:t>
            </a:r>
            <a:endParaRPr lang="en-US" sz="1400" dirty="0"/>
          </a:p>
        </p:txBody>
      </p:sp>
      <p:sp>
        <p:nvSpPr>
          <p:cNvPr id="10" name="Reg meaning 2"/>
          <p:cNvSpPr txBox="1"/>
          <p:nvPr/>
        </p:nvSpPr>
        <p:spPr>
          <a:xfrm>
            <a:off x="269748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10 ms tick</a:t>
            </a:r>
            <a:endParaRPr lang="en-US" sz="1200" dirty="0"/>
          </a:p>
        </p:txBody>
      </p:sp>
      <p:sp>
        <p:nvSpPr>
          <p:cNvPr id="11" name="Reg card 3"/>
          <p:cNvSpPr/>
          <p:nvPr/>
        </p:nvSpPr>
        <p:spPr>
          <a:xfrm>
            <a:off x="466344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eg value 3"/>
          <p:cNvSpPr txBox="1"/>
          <p:nvPr/>
        </p:nvSpPr>
        <p:spPr>
          <a:xfrm>
            <a:off x="4800600" y="1188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50h</a:t>
            </a:r>
            <a:endParaRPr lang="en-US" sz="3000" dirty="0"/>
          </a:p>
        </p:txBody>
      </p:sp>
      <p:sp>
        <p:nvSpPr>
          <p:cNvPr id="13" name="Reg name 3"/>
          <p:cNvSpPr txBox="1"/>
          <p:nvPr/>
        </p:nvSpPr>
        <p:spPr>
          <a:xfrm>
            <a:off x="480060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SCON</a:t>
            </a:r>
            <a:endParaRPr lang="en-US" sz="1400" dirty="0"/>
          </a:p>
        </p:txBody>
      </p:sp>
      <p:sp>
        <p:nvSpPr>
          <p:cNvPr id="14" name="Reg meaning 3"/>
          <p:cNvSpPr txBox="1"/>
          <p:nvPr/>
        </p:nvSpPr>
        <p:spPr>
          <a:xfrm>
            <a:off x="480060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UART mode 1, RX on</a:t>
            </a:r>
            <a:endParaRPr lang="en-US" sz="1200" dirty="0"/>
          </a:p>
        </p:txBody>
      </p:sp>
      <p:sp>
        <p:nvSpPr>
          <p:cNvPr id="15" name="Reg card 4"/>
          <p:cNvSpPr/>
          <p:nvPr/>
        </p:nvSpPr>
        <p:spPr>
          <a:xfrm>
            <a:off x="6766560" y="109728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Reg value 4"/>
          <p:cNvSpPr txBox="1"/>
          <p:nvPr/>
        </p:nvSpPr>
        <p:spPr>
          <a:xfrm>
            <a:off x="6903720" y="1188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21h</a:t>
            </a:r>
            <a:endParaRPr lang="en-US" sz="3000" dirty="0"/>
          </a:p>
        </p:txBody>
      </p:sp>
      <p:sp>
        <p:nvSpPr>
          <p:cNvPr id="17" name="Reg name 4"/>
          <p:cNvSpPr txBox="1"/>
          <p:nvPr/>
        </p:nvSpPr>
        <p:spPr>
          <a:xfrm>
            <a:off x="69037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TMOD</a:t>
            </a:r>
            <a:endParaRPr lang="en-US" sz="1400" dirty="0"/>
          </a:p>
        </p:txBody>
      </p:sp>
      <p:sp>
        <p:nvSpPr>
          <p:cNvPr id="18" name="Reg meaning 4"/>
          <p:cNvSpPr txBox="1"/>
          <p:nvPr/>
        </p:nvSpPr>
        <p:spPr>
          <a:xfrm>
            <a:off x="690372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T1 mode 2, T0 mode 1</a:t>
            </a:r>
            <a:endParaRPr lang="en-US" sz="1200" dirty="0"/>
          </a:p>
        </p:txBody>
      </p:sp>
      <p:sp>
        <p:nvSpPr>
          <p:cNvPr id="19" name="Why crystal head"/>
          <p:cNvSpPr txBox="1"/>
          <p:nvPr/>
        </p:nvSpPr>
        <p:spPr>
          <a:xfrm>
            <a:off x="45720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11.0592 MHz?</a:t>
            </a:r>
            <a:endParaRPr lang="en-US" sz="1600" dirty="0"/>
          </a:p>
        </p:txBody>
      </p:sp>
      <p:sp>
        <p:nvSpPr>
          <p:cNvPr id="20" name="Why crystal text"/>
          <p:cNvSpPr txBox="1"/>
          <p:nvPr/>
        </p:nvSpPr>
        <p:spPr>
          <a:xfrm>
            <a:off x="457200" y="30632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TH1 = 256 − 11 059 200 / (384 × 9600) = 253 = FDh exactly.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With 12 MHz the baud rate would be about 10 417, an 8.5 % error, which is too large for reliable data.</a:t>
            </a:r>
            <a:endParaRPr lang="en-US" sz="1300" dirty="0"/>
          </a:p>
        </p:txBody>
      </p:sp>
      <p:sp>
        <p:nvSpPr>
          <p:cNvPr id="21" name="Interrupt head"/>
          <p:cNvSpPr txBox="1"/>
          <p:nvPr/>
        </p:nvSpPr>
        <p:spPr>
          <a:xfrm>
            <a:off x="475488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Interrupt-driven design</a:t>
            </a:r>
            <a:endParaRPr lang="en-US" sz="1600" dirty="0"/>
          </a:p>
        </p:txBody>
      </p:sp>
      <p:sp>
        <p:nvSpPr>
          <p:cNvPr id="22" name="Interrupt bullets"/>
          <p:cNvSpPr txBox="1"/>
          <p:nvPr/>
        </p:nvSpPr>
        <p:spPr>
          <a:xfrm>
            <a:off x="4754880" y="3063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Timer 0 ISR adds 1 to a tick counter every 10 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Serial ISR stores the letter that follows "#"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Main loop blinks and beeps using the tick count, with no delay loops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Code size about 0.6 KB of 8 KB, compiled with SDCC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in Proteus</a:t>
            </a:r>
            <a:endParaRPr lang="en-US" sz="3000" dirty="0"/>
          </a:p>
        </p:txBody>
      </p:sp>
      <p:pic>
        <p:nvPicPr>
          <p:cNvPr id="3" name="Proteus screenshot" descr="/home/claude/report/fig/proteus_circuit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846320" cy="2846251"/>
          </a:xfrm>
          <a:prstGeom prst="rect">
            <a:avLst/>
          </a:prstGeom>
        </p:spPr>
      </p:pic>
      <p:sp>
        <p:nvSpPr>
          <p:cNvPr id="4" name="Sim no circle 1"/>
          <p:cNvSpPr/>
          <p:nvPr/>
        </p:nvSpPr>
        <p:spPr>
          <a:xfrm>
            <a:off x="5623560" y="10972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im no 1"/>
          <p:cNvSpPr txBox="1"/>
          <p:nvPr/>
        </p:nvSpPr>
        <p:spPr>
          <a:xfrm>
            <a:off x="56235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Sim text 1"/>
          <p:cNvSpPr txBox="1"/>
          <p:nvPr/>
        </p:nvSpPr>
        <p:spPr>
          <a:xfrm>
            <a:off x="6217920" y="1051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HEX in VS Code with SDCC (Ctrl+Shift+B)</a:t>
            </a:r>
            <a:endParaRPr lang="en-US" sz="1300" dirty="0"/>
          </a:p>
        </p:txBody>
      </p:sp>
      <p:sp>
        <p:nvSpPr>
          <p:cNvPr id="7" name="Sim no circle 2"/>
          <p:cNvSpPr/>
          <p:nvPr/>
        </p:nvSpPr>
        <p:spPr>
          <a:xfrm>
            <a:off x="5623560" y="19202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im no 2"/>
          <p:cNvSpPr txBox="1"/>
          <p:nvPr/>
        </p:nvSpPr>
        <p:spPr>
          <a:xfrm>
            <a:off x="56235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Sim text 2"/>
          <p:cNvSpPr txBox="1"/>
          <p:nvPr/>
        </p:nvSpPr>
        <p:spPr>
          <a:xfrm>
            <a:off x="6217920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Load HEX into AT89C52, clock 11.0592 MHz</a:t>
            </a:r>
            <a:endParaRPr lang="en-US" sz="1300" dirty="0"/>
          </a:p>
        </p:txBody>
      </p:sp>
      <p:sp>
        <p:nvSpPr>
          <p:cNvPr id="10" name="Sim no circle 3"/>
          <p:cNvSpPr/>
          <p:nvPr/>
        </p:nvSpPr>
        <p:spPr>
          <a:xfrm>
            <a:off x="5623560" y="2743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im no 3"/>
          <p:cNvSpPr txBox="1"/>
          <p:nvPr/>
        </p:nvSpPr>
        <p:spPr>
          <a:xfrm>
            <a:off x="56235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Sim text 3"/>
          <p:cNvSpPr txBox="1"/>
          <p:nvPr/>
        </p:nvSpPr>
        <p:spPr>
          <a:xfrm>
            <a:off x="6217920" y="2697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Unit test: type #R, #W, #S in Virtual Terminal</a:t>
            </a:r>
            <a:endParaRPr lang="en-US" sz="1300" dirty="0"/>
          </a:p>
        </p:txBody>
      </p:sp>
      <p:sp>
        <p:nvSpPr>
          <p:cNvPr id="13" name="Sim no circle 4"/>
          <p:cNvSpPr/>
          <p:nvPr/>
        </p:nvSpPr>
        <p:spPr>
          <a:xfrm>
            <a:off x="5623560" y="35661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im no 4"/>
          <p:cNvSpPr txBox="1"/>
          <p:nvPr/>
        </p:nvSpPr>
        <p:spPr>
          <a:xfrm>
            <a:off x="56235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Sim text 4"/>
          <p:cNvSpPr txBox="1"/>
          <p:nvPr/>
        </p:nvSpPr>
        <p:spPr>
          <a:xfrm>
            <a:off x="621792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Live: COMPIM on COM7 feeds real MYOSA data into RXD</a:t>
            </a:r>
            <a:endParaRPr lang="en-US" sz="1300" dirty="0"/>
          </a:p>
        </p:txBody>
      </p:sp>
      <p:sp>
        <p:nvSpPr>
          <p:cNvPr id="16" name="Screenshot caption"/>
          <p:cNvSpPr txBox="1"/>
          <p:nvPr/>
        </p:nvSpPr>
        <p:spPr>
          <a:xfrm>
            <a:off x="45720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Red and blue squares on the pins show live logic levels during simulation.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8051 on its own</a:t>
            </a:r>
            <a:endParaRPr lang="en-US" sz="3000" dirty="0"/>
          </a:p>
        </p:txBody>
      </p:sp>
      <p:pic>
        <p:nvPicPr>
          <p:cNvPr id="3" name="Proteus unit test screenshot" descr="/home/claude/report/fig/proteus_test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7680960" cy="2626211"/>
          </a:xfrm>
          <a:prstGeom prst="rect">
            <a:avLst/>
          </a:prstGeom>
        </p:spPr>
      </p:pic>
      <p:sp>
        <p:nvSpPr>
          <p:cNvPr id="4" name="Test card 1"/>
          <p:cNvSpPr/>
          <p:nvPr/>
        </p:nvSpPr>
        <p:spPr>
          <a:xfrm>
            <a:off x="457200" y="38862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st cmd 1"/>
          <p:cNvSpPr txBox="1"/>
          <p:nvPr/>
        </p:nvSpPr>
        <p:spPr>
          <a:xfrm>
            <a:off x="594360" y="3959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</a:t>
            </a:r>
            <a:endParaRPr lang="en-US" sz="1400" dirty="0"/>
          </a:p>
        </p:txBody>
      </p:sp>
      <p:sp>
        <p:nvSpPr>
          <p:cNvPr id="6" name="Test result 1"/>
          <p:cNvSpPr txBox="1"/>
          <p:nvPr/>
        </p:nvSpPr>
        <p:spPr>
          <a:xfrm>
            <a:off x="594360" y="4242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LED steady on</a:t>
            </a:r>
            <a:endParaRPr lang="en-US" sz="1200" dirty="0"/>
          </a:p>
        </p:txBody>
      </p:sp>
      <p:sp>
        <p:nvSpPr>
          <p:cNvPr id="7" name="Test card 2"/>
          <p:cNvSpPr/>
          <p:nvPr/>
        </p:nvSpPr>
        <p:spPr>
          <a:xfrm>
            <a:off x="2560320" y="38862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st cmd 2"/>
          <p:cNvSpPr txBox="1"/>
          <p:nvPr/>
        </p:nvSpPr>
        <p:spPr>
          <a:xfrm>
            <a:off x="2697480" y="3959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</a:t>
            </a:r>
            <a:endParaRPr lang="en-US" sz="1400" dirty="0"/>
          </a:p>
        </p:txBody>
      </p:sp>
      <p:sp>
        <p:nvSpPr>
          <p:cNvPr id="9" name="Test result 2"/>
          <p:cNvSpPr txBox="1"/>
          <p:nvPr/>
        </p:nvSpPr>
        <p:spPr>
          <a:xfrm>
            <a:off x="2697480" y="4242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LED blinks + buzzer</a:t>
            </a:r>
            <a:endParaRPr lang="en-US" sz="1200" dirty="0"/>
          </a:p>
        </p:txBody>
      </p:sp>
      <p:sp>
        <p:nvSpPr>
          <p:cNvPr id="10" name="Test card 3"/>
          <p:cNvSpPr/>
          <p:nvPr/>
        </p:nvSpPr>
        <p:spPr>
          <a:xfrm>
            <a:off x="4663440" y="38862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st cmd 3"/>
          <p:cNvSpPr txBox="1"/>
          <p:nvPr/>
        </p:nvSpPr>
        <p:spPr>
          <a:xfrm>
            <a:off x="4800600" y="3959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</a:t>
            </a:r>
            <a:endParaRPr lang="en-US" sz="1400" dirty="0"/>
          </a:p>
        </p:txBody>
      </p:sp>
      <p:sp>
        <p:nvSpPr>
          <p:cNvPr id="12" name="Test result 3"/>
          <p:cNvSpPr txBox="1"/>
          <p:nvPr/>
        </p:nvSpPr>
        <p:spPr>
          <a:xfrm>
            <a:off x="4800600" y="4242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LED off</a:t>
            </a:r>
            <a:endParaRPr lang="en-US" sz="1200" dirty="0"/>
          </a:p>
        </p:txBody>
      </p:sp>
      <p:sp>
        <p:nvSpPr>
          <p:cNvPr id="13" name="Test card 4"/>
          <p:cNvSpPr/>
          <p:nvPr/>
        </p:nvSpPr>
        <p:spPr>
          <a:xfrm>
            <a:off x="6766560" y="38862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st cmd 4"/>
          <p:cNvSpPr txBox="1"/>
          <p:nvPr/>
        </p:nvSpPr>
        <p:spPr>
          <a:xfrm>
            <a:off x="6903720" y="3959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 5 s</a:t>
            </a:r>
            <a:endParaRPr lang="en-US" sz="1400" dirty="0"/>
          </a:p>
        </p:txBody>
      </p:sp>
      <p:sp>
        <p:nvSpPr>
          <p:cNvPr id="15" name="Test result 4"/>
          <p:cNvSpPr txBox="1"/>
          <p:nvPr/>
        </p:nvSpPr>
        <p:spPr>
          <a:xfrm>
            <a:off x="6903720" y="4242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LED blinks fast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link: real board to Proteus</a:t>
            </a:r>
            <a:endParaRPr lang="en-US" sz="3000" dirty="0"/>
          </a:p>
        </p:txBody>
      </p:sp>
      <p:pic>
        <p:nvPicPr>
          <p:cNvPr id="3" name="Proteus live run" descr="/home/claude/report/vid/proteus_live_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655980"/>
          </a:xfrm>
          <a:prstGeom prst="rect">
            <a:avLst/>
          </a:prstGeom>
        </p:spPr>
      </p:pic>
      <p:sp>
        <p:nvSpPr>
          <p:cNvPr id="4" name="Live caption"/>
          <p:cNvSpPr txBox="1"/>
          <p:nvPr/>
        </p:nvSpPr>
        <p:spPr>
          <a:xfrm>
            <a:off x="457200" y="3840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Proteus during the live run, with the COMPIM block (P1) connected to COM7</a:t>
            </a:r>
            <a:endParaRPr lang="en-US" sz="1100" dirty="0"/>
          </a:p>
        </p:txBody>
      </p:sp>
      <p:sp>
        <p:nvSpPr>
          <p:cNvPr id="5" name="Live point 1 circle"/>
          <p:cNvSpPr/>
          <p:nvPr/>
        </p:nvSpPr>
        <p:spPr>
          <a:xfrm>
            <a:off x="6126480" y="11430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Live poin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210" y="1268730"/>
            <a:ext cx="251460" cy="251460"/>
          </a:xfrm>
          <a:prstGeom prst="rect">
            <a:avLst/>
          </a:prstGeom>
        </p:spPr>
      </p:pic>
      <p:sp>
        <p:nvSpPr>
          <p:cNvPr id="7" name="Live head 1"/>
          <p:cNvSpPr txBox="1"/>
          <p:nvPr/>
        </p:nvSpPr>
        <p:spPr>
          <a:xfrm>
            <a:off x="6766560" y="1124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COMPIM on COM7</a:t>
            </a:r>
            <a:endParaRPr lang="en-US" sz="1400" dirty="0"/>
          </a:p>
        </p:txBody>
      </p:sp>
      <p:sp>
        <p:nvSpPr>
          <p:cNvPr id="8" name="Live text 1"/>
          <p:cNvSpPr txBox="1"/>
          <p:nvPr/>
        </p:nvSpPr>
        <p:spPr>
          <a:xfrm>
            <a:off x="676656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Brings the ESP32's USB serial data into the simulation</a:t>
            </a:r>
            <a:endParaRPr lang="en-US" sz="1150" dirty="0"/>
          </a:p>
        </p:txBody>
      </p:sp>
      <p:sp>
        <p:nvSpPr>
          <p:cNvPr id="9" name="Live point 2 circle"/>
          <p:cNvSpPr/>
          <p:nvPr/>
        </p:nvSpPr>
        <p:spPr>
          <a:xfrm>
            <a:off x="6126480" y="21945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Live poin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2320290"/>
            <a:ext cx="251460" cy="251460"/>
          </a:xfrm>
          <a:prstGeom prst="rect">
            <a:avLst/>
          </a:prstGeom>
        </p:spPr>
      </p:pic>
      <p:sp>
        <p:nvSpPr>
          <p:cNvPr id="11" name="Live head 2"/>
          <p:cNvSpPr txBox="1"/>
          <p:nvPr/>
        </p:nvSpPr>
        <p:spPr>
          <a:xfrm>
            <a:off x="6766560" y="2176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RXD lamp flashes</a:t>
            </a:r>
            <a:endParaRPr lang="en-US" sz="1400" dirty="0"/>
          </a:p>
        </p:txBody>
      </p:sp>
      <p:sp>
        <p:nvSpPr>
          <p:cNvPr id="12" name="Live text 2"/>
          <p:cNvSpPr txBox="1"/>
          <p:nvPr/>
        </p:nvSpPr>
        <p:spPr>
          <a:xfrm>
            <a:off x="676656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A new status message arrives every 2 s</a:t>
            </a:r>
            <a:endParaRPr lang="en-US" sz="1150" dirty="0"/>
          </a:p>
        </p:txBody>
      </p:sp>
      <p:sp>
        <p:nvSpPr>
          <p:cNvPr id="13" name="Live point 3 circle"/>
          <p:cNvSpPr/>
          <p:nvPr/>
        </p:nvSpPr>
        <p:spPr>
          <a:xfrm>
            <a:off x="6126480" y="32461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Live poin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210" y="3371850"/>
            <a:ext cx="251460" cy="251460"/>
          </a:xfrm>
          <a:prstGeom prst="rect">
            <a:avLst/>
          </a:prstGeom>
        </p:spPr>
      </p:pic>
      <p:sp>
        <p:nvSpPr>
          <p:cNvPr id="15" name="Live head 3"/>
          <p:cNvSpPr txBox="1"/>
          <p:nvPr/>
        </p:nvSpPr>
        <p:spPr>
          <a:xfrm>
            <a:off x="6766560" y="3227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LED follows status</a:t>
            </a:r>
            <a:endParaRPr lang="en-US" sz="1400" dirty="0"/>
          </a:p>
        </p:txBody>
      </p:sp>
      <p:sp>
        <p:nvSpPr>
          <p:cNvPr id="16" name="Live text 3"/>
          <p:cNvSpPr txBox="1"/>
          <p:nvPr/>
        </p:nvSpPr>
        <p:spPr>
          <a:xfrm>
            <a:off x="6766560" y="3520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4"/>
                </a:solidFill>
              </a:rPr>
              <a:t>P1.3 is driven by the latest #S / #R / #W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Result card 1"/>
          <p:cNvSpPr/>
          <p:nvPr/>
        </p:nvSpPr>
        <p:spPr>
          <a:xfrm>
            <a:off x="457200" y="1097280"/>
            <a:ext cx="3017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sult value 1"/>
          <p:cNvSpPr txBox="1"/>
          <p:nvPr/>
        </p:nvSpPr>
        <p:spPr>
          <a:xfrm>
            <a:off x="640080" y="1170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 °C</a:t>
            </a:r>
            <a:endParaRPr lang="en-US" sz="2800" dirty="0"/>
          </a:p>
        </p:txBody>
      </p:sp>
      <p:sp>
        <p:nvSpPr>
          <p:cNvPr id="5" name="Result label 1"/>
          <p:cNvSpPr txBox="1"/>
          <p:nvPr/>
        </p:nvSpPr>
        <p:spPr>
          <a:xfrm>
            <a:off x="64008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Temperature</a:t>
            </a:r>
            <a:endParaRPr lang="en-US" sz="1200" dirty="0"/>
          </a:p>
        </p:txBody>
      </p:sp>
      <p:sp>
        <p:nvSpPr>
          <p:cNvPr id="6" name="Result card 2"/>
          <p:cNvSpPr/>
          <p:nvPr/>
        </p:nvSpPr>
        <p:spPr>
          <a:xfrm>
            <a:off x="457200" y="2176272"/>
            <a:ext cx="3017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esult value 2"/>
          <p:cNvSpPr txBox="1"/>
          <p:nvPr/>
        </p:nvSpPr>
        <p:spPr>
          <a:xfrm>
            <a:off x="640080" y="22494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1010.7 hPa</a:t>
            </a:r>
            <a:endParaRPr lang="en-US" sz="2800" dirty="0"/>
          </a:p>
        </p:txBody>
      </p:sp>
      <p:sp>
        <p:nvSpPr>
          <p:cNvPr id="8" name="Result label 2"/>
          <p:cNvSpPr txBox="1"/>
          <p:nvPr/>
        </p:nvSpPr>
        <p:spPr>
          <a:xfrm>
            <a:off x="640080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Pressure</a:t>
            </a:r>
            <a:endParaRPr lang="en-US" sz="1200" dirty="0"/>
          </a:p>
        </p:txBody>
      </p:sp>
      <p:sp>
        <p:nvSpPr>
          <p:cNvPr id="9" name="Result card 3"/>
          <p:cNvSpPr/>
          <p:nvPr/>
        </p:nvSpPr>
        <p:spPr>
          <a:xfrm>
            <a:off x="457200" y="3255264"/>
            <a:ext cx="301752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esult value 3"/>
          <p:cNvSpPr txBox="1"/>
          <p:nvPr/>
        </p:nvSpPr>
        <p:spPr>
          <a:xfrm>
            <a:off x="640080" y="33284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21 m</a:t>
            </a:r>
            <a:endParaRPr lang="en-US" sz="2800" dirty="0"/>
          </a:p>
        </p:txBody>
      </p:sp>
      <p:sp>
        <p:nvSpPr>
          <p:cNvPr id="11" name="Result label 3"/>
          <p:cNvSpPr txBox="1"/>
          <p:nvPr/>
        </p:nvSpPr>
        <p:spPr>
          <a:xfrm>
            <a:off x="64008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Altitude estimate</a:t>
            </a:r>
            <a:endParaRPr lang="en-US" sz="1200" dirty="0"/>
          </a:p>
        </p:txBody>
      </p:sp>
      <p:sp>
        <p:nvSpPr>
          <p:cNvPr id="12" name="Console bg"/>
          <p:cNvSpPr/>
          <p:nvPr/>
        </p:nvSpPr>
        <p:spPr>
          <a:xfrm>
            <a:off x="3794760" y="1097280"/>
            <a:ext cx="4892040" cy="16002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Console text"/>
          <p:cNvSpPr txBox="1"/>
          <p:nvPr/>
        </p:nvSpPr>
        <p:spPr>
          <a:xfrm>
            <a:off x="3931920" y="11887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 devices found: 0x3C 0x77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BMP180 OK   OLED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T=30.6 P=1010.8 A=20 drop=0.0 state=S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T=30.6 P=1010.7 A=21 drop=0.1 state=S</a:t>
            </a:r>
            <a:endParaRPr lang="en-US" sz="1200" dirty="0"/>
          </a:p>
        </p:txBody>
      </p:sp>
      <p:sp>
        <p:nvSpPr>
          <p:cNvPr id="14" name="Check 1 circle"/>
          <p:cNvSpPr/>
          <p:nvPr/>
        </p:nvSpPr>
        <p:spPr>
          <a:xfrm>
            <a:off x="3794760" y="30632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Chec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154680"/>
            <a:ext cx="182880" cy="182880"/>
          </a:xfrm>
          <a:prstGeom prst="rect">
            <a:avLst/>
          </a:prstGeom>
        </p:spPr>
      </p:pic>
      <p:sp>
        <p:nvSpPr>
          <p:cNvPr id="16" name="Check text 1"/>
          <p:cNvSpPr txBox="1"/>
          <p:nvPr/>
        </p:nvSpPr>
        <p:spPr>
          <a:xfrm>
            <a:off x="4297680" y="30449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Both I2C devices detected at the expected addresses</a:t>
            </a:r>
            <a:endParaRPr lang="en-US" sz="1300" dirty="0"/>
          </a:p>
        </p:txBody>
      </p:sp>
      <p:sp>
        <p:nvSpPr>
          <p:cNvPr id="17" name="Check 2 circle"/>
          <p:cNvSpPr/>
          <p:nvPr/>
        </p:nvSpPr>
        <p:spPr>
          <a:xfrm>
            <a:off x="3794760" y="35661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Chec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657600"/>
            <a:ext cx="182880" cy="182880"/>
          </a:xfrm>
          <a:prstGeom prst="rect">
            <a:avLst/>
          </a:prstGeom>
        </p:spPr>
      </p:pic>
      <p:sp>
        <p:nvSpPr>
          <p:cNvPr id="19" name="Check text 2"/>
          <p:cNvSpPr txBox="1"/>
          <p:nvPr/>
        </p:nvSpPr>
        <p:spPr>
          <a:xfrm>
            <a:off x="4297680" y="35478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Demo mode: status changed S → R → W as the drop passed 1.0 and 3.0 hPa</a:t>
            </a:r>
            <a:endParaRPr lang="en-US" sz="1300" dirty="0"/>
          </a:p>
        </p:txBody>
      </p:sp>
      <p:sp>
        <p:nvSpPr>
          <p:cNvPr id="20" name="Check 3 circle"/>
          <p:cNvSpPr/>
          <p:nvPr/>
        </p:nvSpPr>
        <p:spPr>
          <a:xfrm>
            <a:off x="3794760" y="40690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hec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160520"/>
            <a:ext cx="182880" cy="182880"/>
          </a:xfrm>
          <a:prstGeom prst="rect">
            <a:avLst/>
          </a:prstGeom>
        </p:spPr>
      </p:pic>
      <p:sp>
        <p:nvSpPr>
          <p:cNvPr id="22" name="Check text 3"/>
          <p:cNvSpPr txBox="1"/>
          <p:nvPr/>
        </p:nvSpPr>
        <p:spPr>
          <a:xfrm>
            <a:off x="4297680" y="4050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8051 responded to #R, #W and #S, and showed link loss after 5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on the OLED</a:t>
            </a:r>
            <a:endParaRPr lang="en-US" sz="3000" dirty="0"/>
          </a:p>
        </p:txBody>
      </p:sp>
      <p:pic>
        <p:nvPicPr>
          <p:cNvPr id="3" name="OLED photo 1" descr="/home/claude/report/vid/oled_live_sq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920240" cy="1920240"/>
          </a:xfrm>
          <a:prstGeom prst="rect">
            <a:avLst/>
          </a:prstGeom>
        </p:spPr>
      </p:pic>
      <p:sp>
        <p:nvSpPr>
          <p:cNvPr id="4" name="OLED head 1"/>
          <p:cNvSpPr txBox="1"/>
          <p:nvPr/>
        </p:nvSpPr>
        <p:spPr>
          <a:xfrm>
            <a:off x="45720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 Live readings</a:t>
            </a:r>
            <a:endParaRPr lang="en-US" sz="1400" dirty="0"/>
          </a:p>
        </p:txBody>
      </p:sp>
      <p:sp>
        <p:nvSpPr>
          <p:cNvPr id="5" name="OLED text 1"/>
          <p:cNvSpPr txBox="1"/>
          <p:nvPr/>
        </p:nvSpPr>
        <p:spPr>
          <a:xfrm>
            <a:off x="457200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Temperature, pressure, altitude</a:t>
            </a:r>
            <a:endParaRPr lang="en-US" sz="1200" dirty="0"/>
          </a:p>
        </p:txBody>
      </p:sp>
      <p:pic>
        <p:nvPicPr>
          <p:cNvPr id="6" name="OLED photo 2" descr="/home/claude/report/vid/oled_maxmin_sq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0320" y="1097280"/>
            <a:ext cx="1920240" cy="1920240"/>
          </a:xfrm>
          <a:prstGeom prst="rect">
            <a:avLst/>
          </a:prstGeom>
        </p:spPr>
      </p:pic>
      <p:sp>
        <p:nvSpPr>
          <p:cNvPr id="7" name="OLED head 2"/>
          <p:cNvSpPr txBox="1"/>
          <p:nvPr/>
        </p:nvSpPr>
        <p:spPr>
          <a:xfrm>
            <a:off x="256032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 Max / Min</a:t>
            </a:r>
            <a:endParaRPr lang="en-US" sz="1400" dirty="0"/>
          </a:p>
        </p:txBody>
      </p:sp>
      <p:sp>
        <p:nvSpPr>
          <p:cNvPr id="8" name="OLED text 2"/>
          <p:cNvSpPr txBox="1"/>
          <p:nvPr/>
        </p:nvSpPr>
        <p:spPr>
          <a:xfrm>
            <a:off x="2560320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Highest and lowest values</a:t>
            </a:r>
            <a:endParaRPr lang="en-US" sz="1200" dirty="0"/>
          </a:p>
        </p:txBody>
      </p:sp>
      <p:pic>
        <p:nvPicPr>
          <p:cNvPr id="9" name="OLED photo 3" descr="/home/claude/report/vid/oled_storm_sq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097280"/>
            <a:ext cx="1920240" cy="1920240"/>
          </a:xfrm>
          <a:prstGeom prst="rect">
            <a:avLst/>
          </a:prstGeom>
        </p:spPr>
      </p:pic>
      <p:sp>
        <p:nvSpPr>
          <p:cNvPr id="10" name="OLED head 3"/>
          <p:cNvSpPr txBox="1"/>
          <p:nvPr/>
        </p:nvSpPr>
        <p:spPr>
          <a:xfrm>
            <a:off x="466344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3  Storm warning</a:t>
            </a:r>
            <a:endParaRPr lang="en-US" sz="1400" dirty="0"/>
          </a:p>
        </p:txBody>
      </p:sp>
      <p:sp>
        <p:nvSpPr>
          <p:cNvPr id="11" name="OLED text 3"/>
          <p:cNvSpPr txBox="1"/>
          <p:nvPr/>
        </p:nvSpPr>
        <p:spPr>
          <a:xfrm>
            <a:off x="4663440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Demo jumper on GPIO 27</a:t>
            </a:r>
            <a:endParaRPr lang="en-US" sz="1200" dirty="0"/>
          </a:p>
        </p:txBody>
      </p:sp>
      <p:pic>
        <p:nvPicPr>
          <p:cNvPr id="12" name="OLED photo 4" descr="/home/claude/report/vid/oled_stable_sq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0" y="1097280"/>
            <a:ext cx="1920240" cy="1920240"/>
          </a:xfrm>
          <a:prstGeom prst="rect">
            <a:avLst/>
          </a:prstGeom>
        </p:spPr>
      </p:pic>
      <p:sp>
        <p:nvSpPr>
          <p:cNvPr id="13" name="OLED head 4"/>
          <p:cNvSpPr txBox="1"/>
          <p:nvPr/>
        </p:nvSpPr>
        <p:spPr>
          <a:xfrm>
            <a:off x="67665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  Stable again</a:t>
            </a:r>
            <a:endParaRPr lang="en-US" sz="1400" dirty="0"/>
          </a:p>
        </p:txBody>
      </p:sp>
      <p:sp>
        <p:nvSpPr>
          <p:cNvPr id="14" name="OLED text 4"/>
          <p:cNvSpPr txBox="1"/>
          <p:nvPr/>
        </p:nvSpPr>
        <p:spPr>
          <a:xfrm>
            <a:off x="6766560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Jumper removed, dP = 0.0</a:t>
            </a:r>
            <a:endParaRPr lang="en-US" sz="1200" dirty="0"/>
          </a:p>
        </p:txBody>
      </p:sp>
      <p:sp>
        <p:nvSpPr>
          <p:cNvPr id="15" name="OLED note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OLED changes page every 4 s; during a warning it alternates between Live and Forecast.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we solved</a:t>
            </a:r>
            <a:endParaRPr lang="en-US" sz="30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18872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1 circle"/>
          <p:cNvSpPr/>
          <p:nvPr/>
        </p:nvSpPr>
        <p:spPr>
          <a:xfrm>
            <a:off x="685800" y="15361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96212"/>
            <a:ext cx="320040" cy="320040"/>
          </a:xfrm>
          <a:prstGeom prst="rect">
            <a:avLst/>
          </a:prstGeom>
        </p:spPr>
      </p:pic>
      <p:sp>
        <p:nvSpPr>
          <p:cNvPr id="6" name="Problem head 1"/>
          <p:cNvSpPr txBox="1"/>
          <p:nvPr/>
        </p:nvSpPr>
        <p:spPr>
          <a:xfrm>
            <a:off x="155448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humidity sensor</a:t>
            </a:r>
            <a:endParaRPr lang="en-US" sz="18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155448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Used BMP180 temperature instead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663440" y="118872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blem 2 circle"/>
          <p:cNvSpPr/>
          <p:nvPr/>
        </p:nvSpPr>
        <p:spPr>
          <a:xfrm>
            <a:off x="4892040" y="15361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696212"/>
            <a:ext cx="320040" cy="320040"/>
          </a:xfrm>
          <a:prstGeom prst="rect">
            <a:avLst/>
          </a:prstGeom>
        </p:spPr>
      </p:pic>
      <p:sp>
        <p:nvSpPr>
          <p:cNvPr id="11" name="Problem head 2"/>
          <p:cNvSpPr txBox="1"/>
          <p:nvPr/>
        </p:nvSpPr>
        <p:spPr>
          <a:xfrm>
            <a:off x="57607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HEX file not found</a:t>
            </a:r>
            <a:endParaRPr lang="en-US" sz="18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576072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Fixed with the full file path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457200" y="278892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blem 3 circle"/>
          <p:cNvSpPr/>
          <p:nvPr/>
        </p:nvSpPr>
        <p:spPr>
          <a:xfrm>
            <a:off x="685800" y="31363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296412"/>
            <a:ext cx="320040" cy="320040"/>
          </a:xfrm>
          <a:prstGeom prst="rect">
            <a:avLst/>
          </a:prstGeom>
        </p:spPr>
      </p:pic>
      <p:sp>
        <p:nvSpPr>
          <p:cNvPr id="16" name="Problem head 3"/>
          <p:cNvSpPr txBox="1"/>
          <p:nvPr/>
        </p:nvSpPr>
        <p:spPr>
          <a:xfrm>
            <a:off x="155448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8051 got no data</a:t>
            </a:r>
            <a:endParaRPr lang="en-US" sz="18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1554480" y="3502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Rewired TXD → RXD</a:t>
            </a:r>
            <a:endParaRPr lang="en-US" sz="1400" dirty="0"/>
          </a:p>
        </p:txBody>
      </p:sp>
      <p:sp>
        <p:nvSpPr>
          <p:cNvPr id="18" name="Problem card 4"/>
          <p:cNvSpPr/>
          <p:nvPr/>
        </p:nvSpPr>
        <p:spPr>
          <a:xfrm>
            <a:off x="4663440" y="2788920"/>
            <a:ext cx="40233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roblem 4 circle"/>
          <p:cNvSpPr/>
          <p:nvPr/>
        </p:nvSpPr>
        <p:spPr>
          <a:xfrm>
            <a:off x="4892040" y="31363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Problem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296412"/>
            <a:ext cx="320040" cy="320040"/>
          </a:xfrm>
          <a:prstGeom prst="rect">
            <a:avLst/>
          </a:prstGeom>
        </p:spPr>
      </p:pic>
      <p:sp>
        <p:nvSpPr>
          <p:cNvPr id="21" name="Problem head 4"/>
          <p:cNvSpPr txBox="1"/>
          <p:nvPr/>
        </p:nvSpPr>
        <p:spPr>
          <a:xfrm>
            <a:off x="576072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SDCC not found</a:t>
            </a:r>
            <a:endParaRPr lang="en-US" sz="1800" dirty="0"/>
          </a:p>
        </p:txBody>
      </p:sp>
      <p:sp>
        <p:nvSpPr>
          <p:cNvPr id="22" name="Problem text 4"/>
          <p:cNvSpPr txBox="1"/>
          <p:nvPr/>
        </p:nvSpPr>
        <p:spPr>
          <a:xfrm>
            <a:off x="5760720" y="3502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Full path in tasks.json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estimate</a:t>
            </a:r>
            <a:endParaRPr lang="en-US" sz="3000" dirty="0"/>
          </a:p>
        </p:txBody>
      </p:sp>
      <p:sp>
        <p:nvSpPr>
          <p:cNvPr id="3" name="Cost card A"/>
          <p:cNvSpPr/>
          <p:nvPr/>
        </p:nvSpPr>
        <p:spPr>
          <a:xfrm>
            <a:off x="457200" y="1097280"/>
            <a:ext cx="2743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st A"/>
          <p:cNvSpPr txBox="1"/>
          <p:nvPr/>
        </p:nvSpPr>
        <p:spPr>
          <a:xfrm>
            <a:off x="64008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₹1,000</a:t>
            </a:r>
            <a:endParaRPr lang="en-US" sz="4000" dirty="0"/>
          </a:p>
        </p:txBody>
      </p:sp>
      <p:sp>
        <p:nvSpPr>
          <p:cNvPr id="5" name="Cost A label"/>
          <p:cNvSpPr txBox="1"/>
          <p:nvPr/>
        </p:nvSpPr>
        <p:spPr>
          <a:xfrm>
            <a:off x="64008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Sensing unit (MYOSA parts)</a:t>
            </a:r>
            <a:endParaRPr lang="en-US" sz="1300" dirty="0"/>
          </a:p>
        </p:txBody>
      </p:sp>
      <p:sp>
        <p:nvSpPr>
          <p:cNvPr id="6" name="Cost card B"/>
          <p:cNvSpPr/>
          <p:nvPr/>
        </p:nvSpPr>
        <p:spPr>
          <a:xfrm>
            <a:off x="457200" y="2788920"/>
            <a:ext cx="27432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ost B"/>
          <p:cNvSpPr txBox="1"/>
          <p:nvPr/>
        </p:nvSpPr>
        <p:spPr>
          <a:xfrm>
            <a:off x="64008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₹1,500</a:t>
            </a:r>
            <a:endParaRPr lang="en-US" sz="4000" dirty="0"/>
          </a:p>
        </p:txBody>
      </p:sp>
      <p:sp>
        <p:nvSpPr>
          <p:cNvPr id="8" name="Cost B label"/>
          <p:cNvSpPr txBox="1"/>
          <p:nvPr/>
        </p:nvSpPr>
        <p:spPr>
          <a:xfrm>
            <a:off x="6400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Complete hardware version</a:t>
            </a:r>
            <a:endParaRPr lang="en-US" sz="1300" dirty="0"/>
          </a:p>
        </p:txBody>
      </p:sp>
      <p:graphicFrame>
        <p:nvGraphicFramePr>
          <p:cNvPr id="19" name="Co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₹ (approx.)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ESP32 board (MYOSA equivalent)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BMP180 module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0.96" OLED display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USB cable and wires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AT89S52, crystal, R, C, LED, buzzer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Breadboard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USBasp programmer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Software (VS Code, PlatformIO, SDCC)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Merits and limitations</a:t>
            </a:r>
            <a:endParaRPr lang="en-US" sz="3000" dirty="0"/>
          </a:p>
        </p:txBody>
      </p:sp>
      <p:sp>
        <p:nvSpPr>
          <p:cNvPr id="3" name="Merits card"/>
          <p:cNvSpPr/>
          <p:nvPr/>
        </p:nvSpPr>
        <p:spPr>
          <a:xfrm>
            <a:off x="457200" y="1051560"/>
            <a:ext cx="576072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erit 1 circle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Meri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21308"/>
            <a:ext cx="228600" cy="228600"/>
          </a:xfrm>
          <a:prstGeom prst="rect">
            <a:avLst/>
          </a:prstGeom>
        </p:spPr>
      </p:pic>
      <p:sp>
        <p:nvSpPr>
          <p:cNvPr id="6" name="Merit head 1"/>
          <p:cNvSpPr txBox="1"/>
          <p:nvPr/>
        </p:nvSpPr>
        <p:spPr>
          <a:xfrm>
            <a:off x="1207008" y="11795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Early warning</a:t>
            </a:r>
            <a:endParaRPr lang="en-US" sz="1350" dirty="0"/>
          </a:p>
        </p:txBody>
      </p:sp>
      <p:sp>
        <p:nvSpPr>
          <p:cNvPr id="7" name="Merit text 1"/>
          <p:cNvSpPr txBox="1"/>
          <p:nvPr/>
        </p:nvSpPr>
        <p:spPr>
          <a:xfrm>
            <a:off x="1207008" y="14538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Predicts rain and storms hours ahead from the pressure trend</a:t>
            </a:r>
            <a:endParaRPr lang="en-US" sz="1050" dirty="0"/>
          </a:p>
        </p:txBody>
      </p:sp>
      <p:sp>
        <p:nvSpPr>
          <p:cNvPr id="8" name="Merit 2 circle"/>
          <p:cNvSpPr/>
          <p:nvPr/>
        </p:nvSpPr>
        <p:spPr>
          <a:xfrm>
            <a:off x="640080" y="20299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Meri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144268"/>
            <a:ext cx="228600" cy="228600"/>
          </a:xfrm>
          <a:prstGeom prst="rect">
            <a:avLst/>
          </a:prstGeom>
        </p:spPr>
      </p:pic>
      <p:sp>
        <p:nvSpPr>
          <p:cNvPr id="10" name="Merit head 2"/>
          <p:cNvSpPr txBox="1"/>
          <p:nvPr/>
        </p:nvSpPr>
        <p:spPr>
          <a:xfrm>
            <a:off x="1207008" y="2002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Very low cost</a:t>
            </a:r>
            <a:endParaRPr lang="en-US" sz="1350" dirty="0"/>
          </a:p>
        </p:txBody>
      </p:sp>
      <p:sp>
        <p:nvSpPr>
          <p:cNvPr id="11" name="Merit text 2"/>
          <p:cNvSpPr txBox="1"/>
          <p:nvPr/>
        </p:nvSpPr>
        <p:spPr>
          <a:xfrm>
            <a:off x="1207008" y="22768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About ₹1,500 for a complete system</a:t>
            </a:r>
            <a:endParaRPr lang="en-US" sz="1050" dirty="0"/>
          </a:p>
        </p:txBody>
      </p:sp>
      <p:sp>
        <p:nvSpPr>
          <p:cNvPr id="12" name="Merit 3 circle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Meri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967228"/>
            <a:ext cx="228600" cy="228600"/>
          </a:xfrm>
          <a:prstGeom prst="rect">
            <a:avLst/>
          </a:prstGeom>
        </p:spPr>
      </p:pic>
      <p:sp>
        <p:nvSpPr>
          <p:cNvPr id="14" name="Merit head 3"/>
          <p:cNvSpPr txBox="1"/>
          <p:nvPr/>
        </p:nvSpPr>
        <p:spPr>
          <a:xfrm>
            <a:off x="1207008" y="2825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Dual-controller design</a:t>
            </a:r>
            <a:endParaRPr lang="en-US" sz="1350" dirty="0"/>
          </a:p>
        </p:txBody>
      </p:sp>
      <p:sp>
        <p:nvSpPr>
          <p:cNvPr id="15" name="Merit text 3"/>
          <p:cNvSpPr txBox="1"/>
          <p:nvPr/>
        </p:nvSpPr>
        <p:spPr>
          <a:xfrm>
            <a:off x="1207008" y="30998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ESP32 + 8051 working together, as in real products</a:t>
            </a:r>
            <a:endParaRPr lang="en-US" sz="1050" dirty="0"/>
          </a:p>
        </p:txBody>
      </p:sp>
      <p:sp>
        <p:nvSpPr>
          <p:cNvPr id="16" name="Merit 4 circle"/>
          <p:cNvSpPr/>
          <p:nvPr/>
        </p:nvSpPr>
        <p:spPr>
          <a:xfrm>
            <a:off x="640080" y="367588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Meri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790188"/>
            <a:ext cx="228600" cy="228600"/>
          </a:xfrm>
          <a:prstGeom prst="rect">
            <a:avLst/>
          </a:prstGeom>
        </p:spPr>
      </p:pic>
      <p:sp>
        <p:nvSpPr>
          <p:cNvPr id="18" name="Merit head 4"/>
          <p:cNvSpPr txBox="1"/>
          <p:nvPr/>
        </p:nvSpPr>
        <p:spPr>
          <a:xfrm>
            <a:off x="1207008" y="3648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Fail-safe link</a:t>
            </a:r>
            <a:endParaRPr lang="en-US" sz="1350" dirty="0"/>
          </a:p>
        </p:txBody>
      </p:sp>
      <p:sp>
        <p:nvSpPr>
          <p:cNvPr id="19" name="Merit text 4"/>
          <p:cNvSpPr txBox="1"/>
          <p:nvPr/>
        </p:nvSpPr>
        <p:spPr>
          <a:xfrm>
            <a:off x="1207008" y="39227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Detects a lost connection within 5 s</a:t>
            </a:r>
            <a:endParaRPr lang="en-US" sz="1050" dirty="0"/>
          </a:p>
        </p:txBody>
      </p:sp>
      <p:sp>
        <p:nvSpPr>
          <p:cNvPr id="20" name="Merit 5 circle"/>
          <p:cNvSpPr/>
          <p:nvPr/>
        </p:nvSpPr>
        <p:spPr>
          <a:xfrm>
            <a:off x="3429000" y="12070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Meri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1321308"/>
            <a:ext cx="228600" cy="228600"/>
          </a:xfrm>
          <a:prstGeom prst="rect">
            <a:avLst/>
          </a:prstGeom>
        </p:spPr>
      </p:pic>
      <p:sp>
        <p:nvSpPr>
          <p:cNvPr id="22" name="Merit head 5"/>
          <p:cNvSpPr txBox="1"/>
          <p:nvPr/>
        </p:nvSpPr>
        <p:spPr>
          <a:xfrm>
            <a:off x="3995928" y="11795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Three-way alerts</a:t>
            </a:r>
            <a:endParaRPr lang="en-US" sz="1350" dirty="0"/>
          </a:p>
        </p:txBody>
      </p:sp>
      <p:sp>
        <p:nvSpPr>
          <p:cNvPr id="23" name="Merit text 5"/>
          <p:cNvSpPr txBox="1"/>
          <p:nvPr/>
        </p:nvSpPr>
        <p:spPr>
          <a:xfrm>
            <a:off x="3995928" y="14538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OLED text, warning LED and buzzer</a:t>
            </a:r>
            <a:endParaRPr lang="en-US" sz="1050" dirty="0"/>
          </a:p>
        </p:txBody>
      </p:sp>
      <p:sp>
        <p:nvSpPr>
          <p:cNvPr id="24" name="Merit 6 circle"/>
          <p:cNvSpPr/>
          <p:nvPr/>
        </p:nvSpPr>
        <p:spPr>
          <a:xfrm>
            <a:off x="3429000" y="20299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Merit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144268"/>
            <a:ext cx="228600" cy="228600"/>
          </a:xfrm>
          <a:prstGeom prst="rect">
            <a:avLst/>
          </a:prstGeom>
        </p:spPr>
      </p:pic>
      <p:sp>
        <p:nvSpPr>
          <p:cNvPr id="26" name="Merit head 6"/>
          <p:cNvSpPr txBox="1"/>
          <p:nvPr/>
        </p:nvSpPr>
        <p:spPr>
          <a:xfrm>
            <a:off x="3995928" y="2002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Instant demo</a:t>
            </a:r>
            <a:endParaRPr lang="en-US" sz="1350" dirty="0"/>
          </a:p>
        </p:txBody>
      </p:sp>
      <p:sp>
        <p:nvSpPr>
          <p:cNvPr id="27" name="Merit text 6"/>
          <p:cNvSpPr txBox="1"/>
          <p:nvPr/>
        </p:nvSpPr>
        <p:spPr>
          <a:xfrm>
            <a:off x="3995928" y="22768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Full stable → rain → storm cycle in about a minute</a:t>
            </a:r>
            <a:endParaRPr lang="en-US" sz="1050" dirty="0"/>
          </a:p>
        </p:txBody>
      </p:sp>
      <p:sp>
        <p:nvSpPr>
          <p:cNvPr id="28" name="Merit 7 circle"/>
          <p:cNvSpPr/>
          <p:nvPr/>
        </p:nvSpPr>
        <p:spPr>
          <a:xfrm>
            <a:off x="3429000" y="28529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Merit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2967228"/>
            <a:ext cx="228600" cy="228600"/>
          </a:xfrm>
          <a:prstGeom prst="rect">
            <a:avLst/>
          </a:prstGeom>
        </p:spPr>
      </p:pic>
      <p:sp>
        <p:nvSpPr>
          <p:cNvPr id="30" name="Merit head 7"/>
          <p:cNvSpPr txBox="1"/>
          <p:nvPr/>
        </p:nvSpPr>
        <p:spPr>
          <a:xfrm>
            <a:off x="3995928" y="2825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Future-ready</a:t>
            </a:r>
            <a:endParaRPr lang="en-US" sz="1350" dirty="0"/>
          </a:p>
        </p:txBody>
      </p:sp>
      <p:sp>
        <p:nvSpPr>
          <p:cNvPr id="31" name="Merit text 7"/>
          <p:cNvSpPr txBox="1"/>
          <p:nvPr/>
        </p:nvSpPr>
        <p:spPr>
          <a:xfrm>
            <a:off x="3995928" y="30998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Wi-Fi on board, 7 KB free on the 8051</a:t>
            </a:r>
            <a:endParaRPr lang="en-US" sz="1050" dirty="0"/>
          </a:p>
        </p:txBody>
      </p:sp>
      <p:sp>
        <p:nvSpPr>
          <p:cNvPr id="32" name="Limits card"/>
          <p:cNvSpPr/>
          <p:nvPr/>
        </p:nvSpPr>
        <p:spPr>
          <a:xfrm>
            <a:off x="6400800" y="105156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3" name="Limits circle"/>
          <p:cNvSpPr/>
          <p:nvPr/>
        </p:nvSpPr>
        <p:spPr>
          <a:xfrm>
            <a:off x="6583680" y="1207008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4" name="Limits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0" y="1309878"/>
            <a:ext cx="205740" cy="205740"/>
          </a:xfrm>
          <a:prstGeom prst="rect">
            <a:avLst/>
          </a:prstGeom>
        </p:spPr>
      </p:pic>
      <p:sp>
        <p:nvSpPr>
          <p:cNvPr id="35" name="Limits head"/>
          <p:cNvSpPr txBox="1"/>
          <p:nvPr/>
        </p:nvSpPr>
        <p:spPr>
          <a:xfrm>
            <a:off x="7086600" y="12161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36" name="Limits list"/>
          <p:cNvSpPr txBox="1"/>
          <p:nvPr/>
        </p:nvSpPr>
        <p:spPr>
          <a:xfrm>
            <a:off x="6583680" y="1783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Pressure only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Needs 3 h of history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8051 simulated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Future 1 circle"/>
          <p:cNvSpPr/>
          <p:nvPr/>
        </p:nvSpPr>
        <p:spPr>
          <a:xfrm>
            <a:off x="457200" y="13258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Fu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497330"/>
            <a:ext cx="342900" cy="342900"/>
          </a:xfrm>
          <a:prstGeom prst="rect">
            <a:avLst/>
          </a:prstGeom>
        </p:spPr>
      </p:pic>
      <p:sp>
        <p:nvSpPr>
          <p:cNvPr id="5" name="Future head 1"/>
          <p:cNvSpPr txBox="1"/>
          <p:nvPr/>
        </p:nvSpPr>
        <p:spPr>
          <a:xfrm>
            <a:off x="132588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Real 8051 board</a:t>
            </a:r>
            <a:endParaRPr lang="en-US" sz="1500" dirty="0"/>
          </a:p>
        </p:txBody>
      </p:sp>
      <p:sp>
        <p:nvSpPr>
          <p:cNvPr id="6" name="Future text 1"/>
          <p:cNvSpPr txBox="1"/>
          <p:nvPr/>
        </p:nvSpPr>
        <p:spPr>
          <a:xfrm>
            <a:off x="132588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Wire to GPIO 25 and add a 16×2 LCD</a:t>
            </a:r>
            <a:endParaRPr lang="en-US" sz="1250" dirty="0"/>
          </a:p>
        </p:txBody>
      </p:sp>
      <p:sp>
        <p:nvSpPr>
          <p:cNvPr id="7" name="Future 2 circle"/>
          <p:cNvSpPr/>
          <p:nvPr/>
        </p:nvSpPr>
        <p:spPr>
          <a:xfrm>
            <a:off x="3246120" y="13258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Fu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570" y="1497330"/>
            <a:ext cx="342900" cy="342900"/>
          </a:xfrm>
          <a:prstGeom prst="rect">
            <a:avLst/>
          </a:prstGeom>
        </p:spPr>
      </p:pic>
      <p:sp>
        <p:nvSpPr>
          <p:cNvPr id="9" name="Future head 2"/>
          <p:cNvSpPr txBox="1"/>
          <p:nvPr/>
        </p:nvSpPr>
        <p:spPr>
          <a:xfrm>
            <a:off x="411480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Humidity sensor</a:t>
            </a:r>
            <a:endParaRPr lang="en-US" sz="1500" dirty="0"/>
          </a:p>
        </p:txBody>
      </p:sp>
      <p:sp>
        <p:nvSpPr>
          <p:cNvPr id="10" name="Future text 2"/>
          <p:cNvSpPr txBox="1"/>
          <p:nvPr/>
        </p:nvSpPr>
        <p:spPr>
          <a:xfrm>
            <a:off x="411480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SHT31 / AHT20 for humidity, dew point</a:t>
            </a:r>
            <a:endParaRPr lang="en-US" sz="1250" dirty="0"/>
          </a:p>
        </p:txBody>
      </p:sp>
      <p:sp>
        <p:nvSpPr>
          <p:cNvPr id="11" name="Future 3 circle"/>
          <p:cNvSpPr/>
          <p:nvPr/>
        </p:nvSpPr>
        <p:spPr>
          <a:xfrm>
            <a:off x="6035040" y="13258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Fu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90" y="1497330"/>
            <a:ext cx="342900" cy="342900"/>
          </a:xfrm>
          <a:prstGeom prst="rect">
            <a:avLst/>
          </a:prstGeom>
        </p:spPr>
      </p:pic>
      <p:sp>
        <p:nvSpPr>
          <p:cNvPr id="13" name="Future head 3"/>
          <p:cNvSpPr txBox="1"/>
          <p:nvPr/>
        </p:nvSpPr>
        <p:spPr>
          <a:xfrm>
            <a:off x="690372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Wi-Fi dashboard</a:t>
            </a:r>
            <a:endParaRPr lang="en-US" sz="1500" dirty="0"/>
          </a:p>
        </p:txBody>
      </p:sp>
      <p:sp>
        <p:nvSpPr>
          <p:cNvPr id="14" name="Future text 3"/>
          <p:cNvSpPr txBox="1"/>
          <p:nvPr/>
        </p:nvSpPr>
        <p:spPr>
          <a:xfrm>
            <a:off x="6903720" y="16916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Cloud upload and phone storm alerts</a:t>
            </a:r>
            <a:endParaRPr lang="en-US" sz="1250" dirty="0"/>
          </a:p>
        </p:txBody>
      </p:sp>
      <p:sp>
        <p:nvSpPr>
          <p:cNvPr id="15" name="Future 4 circle"/>
          <p:cNvSpPr/>
          <p:nvPr/>
        </p:nvSpPr>
        <p:spPr>
          <a:xfrm>
            <a:off x="457200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Fu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097530"/>
            <a:ext cx="342900" cy="342900"/>
          </a:xfrm>
          <a:prstGeom prst="rect">
            <a:avLst/>
          </a:prstGeom>
        </p:spPr>
      </p:pic>
      <p:sp>
        <p:nvSpPr>
          <p:cNvPr id="17" name="Future head 4"/>
          <p:cNvSpPr txBox="1"/>
          <p:nvPr/>
        </p:nvSpPr>
        <p:spPr>
          <a:xfrm>
            <a:off x="132588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logging</a:t>
            </a:r>
            <a:endParaRPr lang="en-US" sz="1500" dirty="0"/>
          </a:p>
        </p:txBody>
      </p:sp>
      <p:sp>
        <p:nvSpPr>
          <p:cNvPr id="18" name="Future text 4"/>
          <p:cNvSpPr txBox="1"/>
          <p:nvPr/>
        </p:nvSpPr>
        <p:spPr>
          <a:xfrm>
            <a:off x="1325880" y="3291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SD card + RTC, long-term graphs</a:t>
            </a:r>
            <a:endParaRPr lang="en-US" sz="1250" dirty="0"/>
          </a:p>
        </p:txBody>
      </p:sp>
      <p:sp>
        <p:nvSpPr>
          <p:cNvPr id="19" name="Future 5 circle"/>
          <p:cNvSpPr/>
          <p:nvPr/>
        </p:nvSpPr>
        <p:spPr>
          <a:xfrm>
            <a:off x="3246120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Fu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570" y="3097530"/>
            <a:ext cx="342900" cy="342900"/>
          </a:xfrm>
          <a:prstGeom prst="rect">
            <a:avLst/>
          </a:prstGeom>
        </p:spPr>
      </p:pic>
      <p:sp>
        <p:nvSpPr>
          <p:cNvPr id="21" name="Future head 5"/>
          <p:cNvSpPr txBox="1"/>
          <p:nvPr/>
        </p:nvSpPr>
        <p:spPr>
          <a:xfrm>
            <a:off x="411480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Two-way link</a:t>
            </a:r>
            <a:endParaRPr lang="en-US" sz="1500" dirty="0"/>
          </a:p>
        </p:txBody>
      </p:sp>
      <p:sp>
        <p:nvSpPr>
          <p:cNvPr id="22" name="Future text 5"/>
          <p:cNvSpPr txBox="1"/>
          <p:nvPr/>
        </p:nvSpPr>
        <p:spPr>
          <a:xfrm>
            <a:off x="4114800" y="3291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Acknowledgement and checksum</a:t>
            </a:r>
            <a:endParaRPr lang="en-US" sz="1250" dirty="0"/>
          </a:p>
        </p:txBody>
      </p:sp>
      <p:sp>
        <p:nvSpPr>
          <p:cNvPr id="23" name="Future 6 circle"/>
          <p:cNvSpPr/>
          <p:nvPr/>
        </p:nvSpPr>
        <p:spPr>
          <a:xfrm>
            <a:off x="6035040" y="29260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Fu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6490" y="3097530"/>
            <a:ext cx="342900" cy="342900"/>
          </a:xfrm>
          <a:prstGeom prst="rect">
            <a:avLst/>
          </a:prstGeom>
        </p:spPr>
      </p:pic>
      <p:sp>
        <p:nvSpPr>
          <p:cNvPr id="25" name="Future head 6"/>
          <p:cNvSpPr txBox="1"/>
          <p:nvPr/>
        </p:nvSpPr>
        <p:spPr>
          <a:xfrm>
            <a:off x="690372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Solar powered</a:t>
            </a:r>
            <a:endParaRPr lang="en-US" sz="1500" dirty="0"/>
          </a:p>
        </p:txBody>
      </p:sp>
      <p:sp>
        <p:nvSpPr>
          <p:cNvPr id="26" name="Future text 6"/>
          <p:cNvSpPr txBox="1"/>
          <p:nvPr/>
        </p:nvSpPr>
        <p:spPr>
          <a:xfrm>
            <a:off x="6903720" y="3291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Outdoor unit with sleep modes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Conc circl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onc no 1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Conc text 1"/>
          <p:cNvSpPr txBox="1"/>
          <p:nvPr/>
        </p:nvSpPr>
        <p:spPr>
          <a:xfrm>
            <a:off x="1234440" y="1371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Built a working weather station that warns of rain and storms from the 3-hour pressure trend</a:t>
            </a:r>
            <a:endParaRPr lang="en-US" sz="1600" dirty="0"/>
          </a:p>
        </p:txBody>
      </p:sp>
      <p:sp>
        <p:nvSpPr>
          <p:cNvPr id="6" name="Conc circl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onc no 2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Conc text 2"/>
          <p:cNvSpPr txBox="1"/>
          <p:nvPr/>
        </p:nvSpPr>
        <p:spPr>
          <a:xfrm>
            <a:off x="1234440" y="2148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ESP32 handles sensing, maths and display; the 8051 handles interrupt-driven alarms</a:t>
            </a:r>
            <a:endParaRPr lang="en-US" sz="1600" dirty="0"/>
          </a:p>
        </p:txBody>
      </p:sp>
      <p:sp>
        <p:nvSpPr>
          <p:cNvPr id="9" name="Conc circle 3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onc no 3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Conc text 3"/>
          <p:cNvSpPr txBox="1"/>
          <p:nvPr/>
        </p:nvSpPr>
        <p:spPr>
          <a:xfrm>
            <a:off x="1234440" y="2926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Learned I2C, UART between two MCU families, 8051 timers and interrupts, and Proteus co-simulation</a:t>
            </a:r>
            <a:endParaRPr lang="en-US" sz="1600" dirty="0"/>
          </a:p>
        </p:txBody>
      </p:sp>
      <p:sp>
        <p:nvSpPr>
          <p:cNvPr id="12" name="Thanks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m Sky">
  <a:themeElements>
    <a:clrScheme name="Storm Sky">
      <a:dk1>
        <a:srgbClr val="1F2D3D"/>
      </a:dk1>
      <a:lt1>
        <a:srgbClr val="FFFFFF"/>
      </a:lt1>
      <a:dk2>
        <a:srgbClr val="34495E"/>
      </a:dk2>
      <a:lt2>
        <a:srgbClr val="EAF2F7"/>
      </a:lt2>
      <a:accent1>
        <a:srgbClr val="E9A23B"/>
      </a:accent1>
      <a:accent2>
        <a:srgbClr val="2A8C82"/>
      </a:accent2>
      <a:accent3>
        <a:srgbClr val="C8453B"/>
      </a:accent3>
      <a:accent4>
        <a:srgbClr val="5B6B7A"/>
      </a:accent4>
      <a:accent5>
        <a:srgbClr val="8FB3C9"/>
      </a:accent5>
      <a:accent6>
        <a:srgbClr val="F4D8A6"/>
      </a:accent6>
      <a:hlink>
        <a:srgbClr val="2A8C82"/>
      </a:hlink>
      <a:folHlink>
        <a:srgbClr val="5B6B7A"/>
      </a:folHlink>
    </a:clrScheme>
    <a:fontScheme name="Storm Sk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Weather Station</dc:title>
  <dc:subject>PptxGenJS Presentation</dc:subject>
  <dc:creator>Anoof Muhammed K, Bhagath TP, Dania Abdulla, Gautham Laser, Ivana Anto</dc:creator>
  <cp:lastModifiedBy>Anoof Muhammed K, Bhagath TP, Dania Abdulla, Gautham Laser, Ivana Anto</cp:lastModifiedBy>
  <cp:revision>1</cp:revision>
  <dcterms:created xsi:type="dcterms:W3CDTF">2026-10-16T09:33:06Z</dcterms:created>
  <dcterms:modified xsi:type="dcterms:W3CDTF">2026-10-16T09:33:06Z</dcterms:modified>
</cp:coreProperties>
</file>